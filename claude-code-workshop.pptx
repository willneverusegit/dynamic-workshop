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9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44DF067-20E9-499B-9C9D-D3BAAE4B0071}">
  <a:tblStyle styleId="{244DF067-20E9-499B-9C9D-D3BAAE4B00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2502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‹Nr.›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" name="Google Shape;2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3" name="Google Shape;6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" name="Google Shape;93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1" name="Google Shape;121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8" name="Google Shape;168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9" name="Google Shape;199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3" name="Google Shape;263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2" name="Google Shape;302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3" name="Google Shape;303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3" name="Google Shape;313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7" name="Google Shape;337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8" name="Google Shape;338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6" name="Google Shape;356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9" name="Google Shape;379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0" name="Google Shape;380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2" name="Google Shape;422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6" name="Google Shape;456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0" name="Google Shape;490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5.png"/><Relationship Id="rId9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109728" cy="5143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7" name="Google Shape;17;p3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31520" y="1097280"/>
            <a:ext cx="1005840" cy="100584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/>
          <p:nvPr/>
        </p:nvSpPr>
        <p:spPr>
          <a:xfrm>
            <a:off x="1920240" y="1005840"/>
            <a:ext cx="64008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4400"/>
              <a:buFont typeface="Trebuchet MS"/>
              <a:buNone/>
            </a:pPr>
            <a:r>
              <a:rPr lang="en-US" sz="44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Claude Code</a:t>
            </a:r>
            <a:endParaRPr sz="4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1920240" y="1691640"/>
            <a:ext cx="6400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3600"/>
              <a:buFont typeface="Trebuchet MS"/>
              <a:buNone/>
            </a:pPr>
            <a:r>
              <a:rPr lang="en-US" sz="3600" b="0" i="0" u="none" strike="noStrike" cap="none">
                <a:solidFill>
                  <a:srgbClr val="38BDF8"/>
                </a:solidFill>
                <a:latin typeface="Trebuchet MS"/>
                <a:ea typeface="Trebuchet MS"/>
                <a:cs typeface="Trebuchet MS"/>
                <a:sym typeface="Trebuchet MS"/>
              </a:rPr>
              <a:t>Workshop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1920240" y="2423160"/>
            <a:ext cx="2286000" cy="36576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1920240" y="2651760"/>
            <a:ext cx="6400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600"/>
              <a:buFont typeface="Calibri"/>
              <a:buNone/>
            </a:pPr>
            <a:r>
              <a:rPr lang="en-US" sz="1600" b="0" i="1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Von der ersten Session zum produktiven Workflow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1920240" y="338328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Block 1  </a:t>
            </a:r>
            <a:r>
              <a:rPr lang="en-US" sz="13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Foundations    </a:t>
            </a:r>
            <a:r>
              <a:rPr lang="en-US" sz="1300" b="1" i="0" u="none" strike="noStrike" cap="none">
                <a:solidFill>
                  <a:srgbClr val="818CF8"/>
                </a:solidFill>
                <a:latin typeface="Calibri"/>
                <a:ea typeface="Calibri"/>
                <a:cs typeface="Calibri"/>
                <a:sym typeface="Calibri"/>
              </a:rPr>
              <a:t>Block 2  </a:t>
            </a:r>
            <a:r>
              <a:rPr lang="en-US" sz="13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Ecosystem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1920240" y="438912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Dominic  ·  2026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0" y="0"/>
            <a:ext cx="9144000" cy="54864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457200" y="13716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ÜBERBLICK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3000"/>
              <a:buFont typeface="Trebuchet MS"/>
              <a:buNone/>
            </a:pPr>
            <a:r>
              <a:rPr lang="en-US" sz="30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Worüber wir sprechen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" name="Google Shape;32;p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1261872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4"/>
          <p:cNvSpPr/>
          <p:nvPr/>
        </p:nvSpPr>
        <p:spPr>
          <a:xfrm>
            <a:off x="960120" y="1234440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1.1  Was ist Claude Code?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4114800" y="123444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Agent, nicht Chat — CLI, Desktop, IDE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" name="Google Shape;35;p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8640" y="1673352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4"/>
          <p:cNvSpPr/>
          <p:nvPr/>
        </p:nvSpPr>
        <p:spPr>
          <a:xfrm>
            <a:off x="960120" y="1645920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1.2  Context &amp; Memory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4114800" y="164592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Context Window, CLAUDE.md, Persistenz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8" name="Google Shape;38;p4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2084832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4"/>
          <p:cNvSpPr/>
          <p:nvPr/>
        </p:nvSpPr>
        <p:spPr>
          <a:xfrm>
            <a:off x="960120" y="2057400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1.3  Effektives Prompting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4114800" y="205740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Vage vs. spezifisch, Iterative Patterns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1" name="Google Shape;41;p4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8640" y="2496312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4"/>
          <p:cNvSpPr/>
          <p:nvPr/>
        </p:nvSpPr>
        <p:spPr>
          <a:xfrm>
            <a:off x="960120" y="2468880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1.4  Git-Integration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4114800" y="246888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Branch → Commit → PR, Worktrees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457200" y="2834640"/>
            <a:ext cx="8229600" cy="9144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3415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5" name="Google Shape;45;p4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48640" y="2907792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4"/>
          <p:cNvSpPr/>
          <p:nvPr/>
        </p:nvSpPr>
        <p:spPr>
          <a:xfrm>
            <a:off x="960120" y="2880360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2.1  Skills &amp; Commands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4114800" y="288036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Wiederverwendbare Prompt-Templates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" name="Google Shape;48;p4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48640" y="3319272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4"/>
          <p:cNvSpPr/>
          <p:nvPr/>
        </p:nvSpPr>
        <p:spPr>
          <a:xfrm>
            <a:off x="960120" y="3291840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2.2  Hooks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4114800" y="329184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Deterministische Guardrails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1" name="Google Shape;51;p4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48640" y="3730752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4"/>
          <p:cNvSpPr/>
          <p:nvPr/>
        </p:nvSpPr>
        <p:spPr>
          <a:xfrm>
            <a:off x="960120" y="3703320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2.3  Plugins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4"/>
          <p:cNvSpPr/>
          <p:nvPr/>
        </p:nvSpPr>
        <p:spPr>
          <a:xfrm>
            <a:off x="4114800" y="370332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Paketierte Erweiterungen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4" name="Google Shape;54;p4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548640" y="4142232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4"/>
          <p:cNvSpPr/>
          <p:nvPr/>
        </p:nvSpPr>
        <p:spPr>
          <a:xfrm>
            <a:off x="960120" y="4114800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2.4  MCP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4114800" y="411480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Externe Systeme anbinden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7" name="Google Shape;57;p4" descr="preencoded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548640" y="4553712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4"/>
          <p:cNvSpPr/>
          <p:nvPr/>
        </p:nvSpPr>
        <p:spPr>
          <a:xfrm>
            <a:off x="960120" y="4526280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2.5  RAG &amp; NotebookLM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4114800" y="452628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Eigenes Wissen einbinden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4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 / 18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5"/>
          <p:cNvSpPr/>
          <p:nvPr/>
        </p:nvSpPr>
        <p:spPr>
          <a:xfrm>
            <a:off x="0" y="0"/>
            <a:ext cx="9144000" cy="54864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5"/>
          <p:cNvSpPr/>
          <p:nvPr/>
        </p:nvSpPr>
        <p:spPr>
          <a:xfrm>
            <a:off x="457200" y="13716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BLOCK 1 · FOUNDATIONS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3000"/>
              <a:buFont typeface="Trebuchet MS"/>
              <a:buNone/>
            </a:pPr>
            <a:r>
              <a:rPr lang="en-US" sz="30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Was ist Claude Code?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5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400"/>
              <a:buFont typeface="Calibri"/>
              <a:buNone/>
            </a:pPr>
            <a:r>
              <a:rPr lang="en-US" sz="1400" b="0" i="1" u="none" strike="noStrike" cap="non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Kein Chatbot. Kein Autocomplete. Eine autonome Agent-Loop im Terminal.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5"/>
          <p:cNvSpPr/>
          <p:nvPr/>
        </p:nvSpPr>
        <p:spPr>
          <a:xfrm>
            <a:off x="457200" y="1600200"/>
            <a:ext cx="2651760" cy="2286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5"/>
          <p:cNvSpPr/>
          <p:nvPr/>
        </p:nvSpPr>
        <p:spPr>
          <a:xfrm>
            <a:off x="457200" y="1600200"/>
            <a:ext cx="2651760" cy="54864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64748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2" name="Google Shape;72;p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0080" y="178308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5"/>
          <p:cNvSpPr/>
          <p:nvPr/>
        </p:nvSpPr>
        <p:spPr>
          <a:xfrm>
            <a:off x="1097280" y="17830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600"/>
              <a:buFont typeface="Trebuchet MS"/>
              <a:buNone/>
            </a:pPr>
            <a:r>
              <a:rPr lang="en-US" sz="16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claude.ai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1097280" y="205740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Web Chat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5"/>
          <p:cNvSpPr/>
          <p:nvPr/>
        </p:nvSpPr>
        <p:spPr>
          <a:xfrm>
            <a:off x="640080" y="24231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Beratung per Gespräch.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Kein Dateizugriff,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keine Ausführung.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5"/>
          <p:cNvSpPr/>
          <p:nvPr/>
        </p:nvSpPr>
        <p:spPr>
          <a:xfrm>
            <a:off x="3337560" y="1600200"/>
            <a:ext cx="2651760" cy="2286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5"/>
          <p:cNvSpPr/>
          <p:nvPr/>
        </p:nvSpPr>
        <p:spPr>
          <a:xfrm>
            <a:off x="3337560" y="1600200"/>
            <a:ext cx="2651760" cy="54864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8" name="Google Shape;78;p5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520440" y="178308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5"/>
          <p:cNvSpPr/>
          <p:nvPr/>
        </p:nvSpPr>
        <p:spPr>
          <a:xfrm>
            <a:off x="3977640" y="17830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600"/>
              <a:buFont typeface="Trebuchet MS"/>
              <a:buNone/>
            </a:pPr>
            <a:r>
              <a:rPr lang="en-US" sz="16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Claude Code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5"/>
          <p:cNvSpPr/>
          <p:nvPr/>
        </p:nvSpPr>
        <p:spPr>
          <a:xfrm>
            <a:off x="3977640" y="205740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CLI / Desktop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3520440" y="24231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Voller Filesystem-Zugriff,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Bash, Git, MCP, Subagents.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Agent in deinem System.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5"/>
          <p:cNvSpPr/>
          <p:nvPr/>
        </p:nvSpPr>
        <p:spPr>
          <a:xfrm>
            <a:off x="6217920" y="1600200"/>
            <a:ext cx="2651760" cy="2286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5"/>
          <p:cNvSpPr/>
          <p:nvPr/>
        </p:nvSpPr>
        <p:spPr>
          <a:xfrm>
            <a:off x="6217920" y="1600200"/>
            <a:ext cx="2651760" cy="54864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818C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4" name="Google Shape;84;p5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00800" y="178308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5"/>
          <p:cNvSpPr/>
          <p:nvPr/>
        </p:nvSpPr>
        <p:spPr>
          <a:xfrm>
            <a:off x="6858000" y="17830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600"/>
              <a:buFont typeface="Trebuchet MS"/>
              <a:buNone/>
            </a:pPr>
            <a:r>
              <a:rPr lang="en-US" sz="16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IDE Extension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5"/>
          <p:cNvSpPr/>
          <p:nvPr/>
        </p:nvSpPr>
        <p:spPr>
          <a:xfrm>
            <a:off x="6858000" y="205740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18CF8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818CF8"/>
                </a:solidFill>
                <a:latin typeface="Calibri"/>
                <a:ea typeface="Calibri"/>
                <a:cs typeface="Calibri"/>
                <a:sym typeface="Calibri"/>
              </a:rPr>
              <a:t>VS Code / JetBrains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6400800" y="24231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Sidecar im Editor.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Sieht dein Projekt,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macht direkte Edits.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/>
          <p:nvPr/>
        </p:nvSpPr>
        <p:spPr>
          <a:xfrm>
            <a:off x="457200" y="4114800"/>
            <a:ext cx="8229600" cy="73152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5"/>
          <p:cNvSpPr/>
          <p:nvPr/>
        </p:nvSpPr>
        <p:spPr>
          <a:xfrm>
            <a:off x="731520" y="4160520"/>
            <a:ext cx="77724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2800"/>
              <a:buFont typeface="Georgia"/>
              <a:buNone/>
            </a:pPr>
            <a:r>
              <a:rPr lang="en-US" sz="2800" b="0" i="0" u="none" strike="noStrike" cap="none">
                <a:solidFill>
                  <a:srgbClr val="38BDF8"/>
                </a:solidFill>
                <a:latin typeface="Georgia"/>
                <a:ea typeface="Georgia"/>
                <a:cs typeface="Georgia"/>
                <a:sym typeface="Georgia"/>
              </a:rPr>
              <a:t>"</a:t>
            </a:r>
            <a:r>
              <a:rPr lang="en-US" sz="1200" b="0" i="1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 Claude Code is a power tool. There's no one right way to work with it.</a:t>
            </a:r>
            <a:r>
              <a:rPr lang="en-US" sz="2800" b="0" i="0" u="none" strike="noStrike" cap="none">
                <a:solidFill>
                  <a:srgbClr val="38BDF8"/>
                </a:solidFill>
                <a:latin typeface="Georgia"/>
                <a:ea typeface="Georgia"/>
                <a:cs typeface="Georgia"/>
                <a:sym typeface="Georgia"/>
              </a:rPr>
              <a:t>"</a:t>
            </a:r>
            <a:r>
              <a:rPr lang="en-US" sz="10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  — Boris Cherny, Creator of Claude Code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5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3 / 18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6"/>
          <p:cNvSpPr/>
          <p:nvPr/>
        </p:nvSpPr>
        <p:spPr>
          <a:xfrm>
            <a:off x="0" y="0"/>
            <a:ext cx="9144000" cy="54864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6"/>
          <p:cNvSpPr/>
          <p:nvPr/>
        </p:nvSpPr>
        <p:spPr>
          <a:xfrm>
            <a:off x="457200" y="13716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BLOCK 1 · MENTALES MODELL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6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800"/>
              <a:buFont typeface="Trebuchet MS"/>
              <a:buNone/>
            </a:pPr>
            <a:r>
              <a:rPr lang="en-US" sz="28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Security-Analogie: Drei Berater-Modi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6"/>
          <p:cNvSpPr/>
          <p:nvPr/>
        </p:nvSpPr>
        <p:spPr>
          <a:xfrm>
            <a:off x="457200" y="1188720"/>
            <a:ext cx="2651760" cy="2743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6"/>
          <p:cNvSpPr/>
          <p:nvPr/>
        </p:nvSpPr>
        <p:spPr>
          <a:xfrm>
            <a:off x="457200" y="1188720"/>
            <a:ext cx="2651760" cy="54864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64748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6"/>
          <p:cNvSpPr/>
          <p:nvPr/>
        </p:nvSpPr>
        <p:spPr>
          <a:xfrm>
            <a:off x="594360" y="1371600"/>
            <a:ext cx="5486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libri"/>
              <a:buNone/>
            </a:pPr>
            <a:r>
              <a:rPr lang="en-US" sz="2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📞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6"/>
          <p:cNvSpPr/>
          <p:nvPr/>
        </p:nvSpPr>
        <p:spPr>
          <a:xfrm>
            <a:off x="1097280" y="137160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400"/>
              <a:buFont typeface="Trebuchet MS"/>
              <a:buNone/>
            </a:pPr>
            <a:r>
              <a:rPr lang="en-US" sz="14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Berater am Telefon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6"/>
          <p:cNvSpPr/>
          <p:nvPr/>
        </p:nvSpPr>
        <p:spPr>
          <a:xfrm>
            <a:off x="1097280" y="169164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onsolas"/>
              <a:buNone/>
            </a:pPr>
            <a:r>
              <a:rPr lang="en-US" sz="1000" b="0" i="0" u="none" strike="noStrike" cap="none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rPr>
              <a:t>claude.ai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6"/>
          <p:cNvSpPr/>
          <p:nvPr/>
        </p:nvSpPr>
        <p:spPr>
          <a:xfrm>
            <a:off x="640080" y="2103120"/>
            <a:ext cx="22860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Hört zu, gibt Rat.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Berührt nichts.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Du setzt selbst um.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6"/>
          <p:cNvSpPr/>
          <p:nvPr/>
        </p:nvSpPr>
        <p:spPr>
          <a:xfrm>
            <a:off x="3337560" y="1188720"/>
            <a:ext cx="2651760" cy="2743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6"/>
          <p:cNvSpPr/>
          <p:nvPr/>
        </p:nvSpPr>
        <p:spPr>
          <a:xfrm>
            <a:off x="3337560" y="1188720"/>
            <a:ext cx="2651760" cy="54864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6"/>
          <p:cNvSpPr/>
          <p:nvPr/>
        </p:nvSpPr>
        <p:spPr>
          <a:xfrm>
            <a:off x="3474720" y="1371600"/>
            <a:ext cx="5486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libri"/>
              <a:buNone/>
            </a:pPr>
            <a:r>
              <a:rPr lang="en-US" sz="2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🔑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6"/>
          <p:cNvSpPr/>
          <p:nvPr/>
        </p:nvSpPr>
        <p:spPr>
          <a:xfrm>
            <a:off x="3977640" y="137160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400"/>
              <a:buFont typeface="Trebuchet MS"/>
              <a:buNone/>
            </a:pPr>
            <a:r>
              <a:rPr lang="en-US" sz="14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Berater mit Badge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6"/>
          <p:cNvSpPr/>
          <p:nvPr/>
        </p:nvSpPr>
        <p:spPr>
          <a:xfrm>
            <a:off x="3977640" y="169164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000"/>
              <a:buFont typeface="Consolas"/>
              <a:buNone/>
            </a:pPr>
            <a:r>
              <a:rPr lang="en-US" sz="1000" b="0" i="0" u="none" strike="noStrike" cap="none">
                <a:solidFill>
                  <a:srgbClr val="38BDF8"/>
                </a:solidFill>
                <a:latin typeface="Consolas"/>
                <a:ea typeface="Consolas"/>
                <a:cs typeface="Consolas"/>
                <a:sym typeface="Consolas"/>
              </a:rPr>
              <a:t>Claude Code CLI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6"/>
          <p:cNvSpPr/>
          <p:nvPr/>
        </p:nvSpPr>
        <p:spPr>
          <a:xfrm>
            <a:off x="3520440" y="2103120"/>
            <a:ext cx="22860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Hat Zugang zum Gebäude.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Öffnet Türen, prüft Verkabelung,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liest Logs, konfiguriert.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6"/>
          <p:cNvSpPr/>
          <p:nvPr/>
        </p:nvSpPr>
        <p:spPr>
          <a:xfrm>
            <a:off x="6217920" y="1188720"/>
            <a:ext cx="2651760" cy="2743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6"/>
          <p:cNvSpPr/>
          <p:nvPr/>
        </p:nvSpPr>
        <p:spPr>
          <a:xfrm>
            <a:off x="6217920" y="1188720"/>
            <a:ext cx="2651760" cy="54864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818C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6"/>
          <p:cNvSpPr/>
          <p:nvPr/>
        </p:nvSpPr>
        <p:spPr>
          <a:xfrm>
            <a:off x="6355080" y="1371600"/>
            <a:ext cx="5486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libri"/>
              <a:buNone/>
            </a:pPr>
            <a:r>
              <a:rPr lang="en-US" sz="2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🖥️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6"/>
          <p:cNvSpPr/>
          <p:nvPr/>
        </p:nvSpPr>
        <p:spPr>
          <a:xfrm>
            <a:off x="6858000" y="137160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400"/>
              <a:buFont typeface="Trebuchet MS"/>
              <a:buNone/>
            </a:pPr>
            <a:r>
              <a:rPr lang="en-US" sz="14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Berater am Schreibtisch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6858000" y="169164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18CF8"/>
              </a:buClr>
              <a:buSzPts val="1000"/>
              <a:buFont typeface="Consolas"/>
              <a:buNone/>
            </a:pPr>
            <a:r>
              <a:rPr lang="en-US" sz="1000" b="0" i="0" u="none" strike="noStrike" cap="none">
                <a:solidFill>
                  <a:srgbClr val="818CF8"/>
                </a:solidFill>
                <a:latin typeface="Consolas"/>
                <a:ea typeface="Consolas"/>
                <a:cs typeface="Consolas"/>
                <a:sym typeface="Consolas"/>
              </a:rPr>
              <a:t>Desktop / IDE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6"/>
          <p:cNvSpPr/>
          <p:nvPr/>
        </p:nvSpPr>
        <p:spPr>
          <a:xfrm>
            <a:off x="6400800" y="2103120"/>
            <a:ext cx="22860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Gleicher Zugang,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anderes Interface.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Gleiche Arbeit, mehr Komfort.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6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300"/>
              <a:buFont typeface="Calibri"/>
              <a:buNone/>
            </a:pPr>
            <a:r>
              <a:rPr lang="en-US" sz="1300" b="0" i="1" u="none" strike="noStrike" cap="non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Die Interfaces ändern sich — die Fähigkeiten bleiben gleich.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6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4 / 18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7"/>
          <p:cNvSpPr/>
          <p:nvPr/>
        </p:nvSpPr>
        <p:spPr>
          <a:xfrm>
            <a:off x="0" y="0"/>
            <a:ext cx="9144000" cy="54864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7"/>
          <p:cNvSpPr/>
          <p:nvPr/>
        </p:nvSpPr>
        <p:spPr>
          <a:xfrm>
            <a:off x="457200" y="13716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BLOCK 1 · WERKZEUGE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7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3000"/>
              <a:buFont typeface="Trebuchet MS"/>
              <a:buNone/>
            </a:pPr>
            <a:r>
              <a:rPr lang="en-US" sz="30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Built-in Tools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7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lang="en-US" sz="1200" b="0" i="1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Jedes Tool ist ein eigener Zugangsbereich — mit eigener Freigabestufe.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28" name="Google Shape;128;p7"/>
          <p:cNvGraphicFramePr/>
          <p:nvPr/>
        </p:nvGraphicFramePr>
        <p:xfrm>
          <a:off x="457200" y="13716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{244DF067-20E9-499B-9C9D-D3BAAE4B0071}</a:tableStyleId>
              </a:tblPr>
              <a:tblGrid>
                <a:gridCol w="20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8FAFC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8FAF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Tool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8BD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8FAFC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8FAF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Funktion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8BD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8FAFC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8FAF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Permission?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8BD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8FAFC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8FAF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Analogie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8B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94A3B8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Read, Glob, Grep</a:t>
                      </a:r>
                      <a:endParaRPr sz="1000" u="none" strike="noStrike" cap="non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Dateien lesen, suchen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Nein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Lobby — jeder kommt rein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94A3B8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Edit</a:t>
                      </a:r>
                      <a:endParaRPr sz="1000" u="none" strike="noStrike" cap="non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Dateien gezielt ändern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Ja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Büro — Wartungsbadge nötig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94A3B8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Write</a:t>
                      </a:r>
                      <a:endParaRPr sz="1000" u="none" strike="noStrike" cap="non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Dateien erstellen/überschreiben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Ja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Technikraum — Freigabe nötig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94A3B8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Bash</a:t>
                      </a:r>
                      <a:endParaRPr sz="1000" u="none" strike="noStrike" cap="non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Shell-Befehle ausführen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Ja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Serverraum — explizite Genehmigung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94A3B8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WebSearch / WebFetch</a:t>
                      </a:r>
                      <a:endParaRPr sz="1000" u="none" strike="noStrike" cap="non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Web durchsuchen / abrufen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Ja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Außenbereich — Ausgangstor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94A3B8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Agent</a:t>
                      </a:r>
                      <a:endParaRPr sz="1000" u="none" strike="noStrike" cap="non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Subagent spawnen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Nein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Teamleitung — delegiert intern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onsolas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94A3B8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Skill</a:t>
                      </a:r>
                      <a:endParaRPr sz="1000" u="none" strike="noStrike" cap="non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Skill aufrufen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Ja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SOP aktivieren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9" name="Google Shape;129;p7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5 / 18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8"/>
          <p:cNvSpPr/>
          <p:nvPr/>
        </p:nvSpPr>
        <p:spPr>
          <a:xfrm>
            <a:off x="0" y="0"/>
            <a:ext cx="9144000" cy="54864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8"/>
          <p:cNvSpPr/>
          <p:nvPr/>
        </p:nvSpPr>
        <p:spPr>
          <a:xfrm>
            <a:off x="457200" y="13716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BLOCK 1 · SICHERHEIT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8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800"/>
              <a:buFont typeface="Trebuchet MS"/>
              <a:buNone/>
            </a:pPr>
            <a:r>
              <a:rPr lang="en-US" sz="28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Permission System — 6 Stufen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8"/>
          <p:cNvSpPr/>
          <p:nvPr/>
        </p:nvSpPr>
        <p:spPr>
          <a:xfrm>
            <a:off x="457200" y="1143000"/>
            <a:ext cx="73152" cy="457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4D39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8"/>
          <p:cNvSpPr/>
          <p:nvPr/>
        </p:nvSpPr>
        <p:spPr>
          <a:xfrm>
            <a:off x="685800" y="1143000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200"/>
              <a:buFont typeface="Consolas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Consolas"/>
                <a:ea typeface="Consolas"/>
                <a:cs typeface="Consolas"/>
                <a:sym typeface="Consolas"/>
              </a:rPr>
              <a:t>default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8"/>
          <p:cNvSpPr/>
          <p:nvPr/>
        </p:nvSpPr>
        <p:spPr>
          <a:xfrm>
            <a:off x="2194560" y="1143000"/>
            <a:ext cx="39319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Nur Lesen, alles andere fragt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8"/>
          <p:cNvSpPr/>
          <p:nvPr/>
        </p:nvSpPr>
        <p:spPr>
          <a:xfrm>
            <a:off x="6400800" y="114300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34D399"/>
                </a:solidFill>
                <a:latin typeface="Calibri"/>
                <a:ea typeface="Calibri"/>
                <a:cs typeface="Calibri"/>
                <a:sym typeface="Calibri"/>
              </a:rPr>
              <a:t>Besucherbadge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8"/>
          <p:cNvSpPr/>
          <p:nvPr/>
        </p:nvSpPr>
        <p:spPr>
          <a:xfrm>
            <a:off x="457200" y="1737360"/>
            <a:ext cx="73152" cy="457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4D39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8"/>
          <p:cNvSpPr/>
          <p:nvPr/>
        </p:nvSpPr>
        <p:spPr>
          <a:xfrm>
            <a:off x="685800" y="1737360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200"/>
              <a:buFont typeface="Consolas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Consolas"/>
                <a:ea typeface="Consolas"/>
                <a:cs typeface="Consolas"/>
                <a:sym typeface="Consolas"/>
              </a:rPr>
              <a:t>acceptEdits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8"/>
          <p:cNvSpPr/>
          <p:nvPr/>
        </p:nvSpPr>
        <p:spPr>
          <a:xfrm>
            <a:off x="2194560" y="1737360"/>
            <a:ext cx="39319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Lesen + Editieren, Bash fragt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8"/>
          <p:cNvSpPr/>
          <p:nvPr/>
        </p:nvSpPr>
        <p:spPr>
          <a:xfrm>
            <a:off x="6400800" y="173736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34D399"/>
                </a:solidFill>
                <a:latin typeface="Calibri"/>
                <a:ea typeface="Calibri"/>
                <a:cs typeface="Calibri"/>
                <a:sym typeface="Calibri"/>
              </a:rPr>
              <a:t>Wartungsbadge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8"/>
          <p:cNvSpPr/>
          <p:nvPr/>
        </p:nvSpPr>
        <p:spPr>
          <a:xfrm>
            <a:off x="457200" y="2331720"/>
            <a:ext cx="73152" cy="457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8"/>
          <p:cNvSpPr/>
          <p:nvPr/>
        </p:nvSpPr>
        <p:spPr>
          <a:xfrm>
            <a:off x="685800" y="2331720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200"/>
              <a:buFont typeface="Consolas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Consolas"/>
                <a:ea typeface="Consolas"/>
                <a:cs typeface="Consolas"/>
                <a:sym typeface="Consolas"/>
              </a:rPr>
              <a:t>plan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8"/>
          <p:cNvSpPr/>
          <p:nvPr/>
        </p:nvSpPr>
        <p:spPr>
          <a:xfrm>
            <a:off x="2194560" y="2331720"/>
            <a:ext cx="39319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Zeigt Plan, genehmigt alles auf einmal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8"/>
          <p:cNvSpPr/>
          <p:nvPr/>
        </p:nvSpPr>
        <p:spPr>
          <a:xfrm>
            <a:off x="6400800" y="233172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Mission Briefing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8"/>
          <p:cNvSpPr/>
          <p:nvPr/>
        </p:nvSpPr>
        <p:spPr>
          <a:xfrm>
            <a:off x="457200" y="2926080"/>
            <a:ext cx="73152" cy="457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F59E0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8"/>
          <p:cNvSpPr/>
          <p:nvPr/>
        </p:nvSpPr>
        <p:spPr>
          <a:xfrm>
            <a:off x="685800" y="2926080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200"/>
              <a:buFont typeface="Consolas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Consolas"/>
                <a:ea typeface="Consolas"/>
                <a:cs typeface="Consolas"/>
                <a:sym typeface="Consolas"/>
              </a:rPr>
              <a:t>auto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8"/>
          <p:cNvSpPr/>
          <p:nvPr/>
        </p:nvSpPr>
        <p:spPr>
          <a:xfrm>
            <a:off x="2194560" y="2926080"/>
            <a:ext cx="39319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ML-Klassifier entscheidet (Team/Ent.)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8"/>
          <p:cNvSpPr/>
          <p:nvPr/>
        </p:nvSpPr>
        <p:spPr>
          <a:xfrm>
            <a:off x="6400800" y="292608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Smart Badge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457200" y="3520440"/>
            <a:ext cx="73152" cy="457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F59E0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8"/>
          <p:cNvSpPr/>
          <p:nvPr/>
        </p:nvSpPr>
        <p:spPr>
          <a:xfrm>
            <a:off x="685800" y="3520440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200"/>
              <a:buFont typeface="Consolas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Consolas"/>
                <a:ea typeface="Consolas"/>
                <a:cs typeface="Consolas"/>
                <a:sym typeface="Consolas"/>
              </a:rPr>
              <a:t>dontAsk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8"/>
          <p:cNvSpPr/>
          <p:nvPr/>
        </p:nvSpPr>
        <p:spPr>
          <a:xfrm>
            <a:off x="2194560" y="3520440"/>
            <a:ext cx="39319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Nie fragen — nur Allow/Deny-Rules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8"/>
          <p:cNvSpPr/>
          <p:nvPr/>
        </p:nvSpPr>
        <p:spPr>
          <a:xfrm>
            <a:off x="6400800" y="352044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Freigegebener Auftrag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8"/>
          <p:cNvSpPr/>
          <p:nvPr/>
        </p:nvSpPr>
        <p:spPr>
          <a:xfrm>
            <a:off x="457200" y="4114800"/>
            <a:ext cx="73152" cy="457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EF444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8"/>
          <p:cNvSpPr/>
          <p:nvPr/>
        </p:nvSpPr>
        <p:spPr>
          <a:xfrm>
            <a:off x="685800" y="4114800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200"/>
              <a:buFont typeface="Consolas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Consolas"/>
                <a:ea typeface="Consolas"/>
                <a:cs typeface="Consolas"/>
                <a:sym typeface="Consolas"/>
              </a:rPr>
              <a:t>bypass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8"/>
          <p:cNvSpPr/>
          <p:nvPr/>
        </p:nvSpPr>
        <p:spPr>
          <a:xfrm>
            <a:off x="2194560" y="4114800"/>
            <a:ext cx="39319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Alles erlaubt (NUR in Sandboxes!)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8"/>
          <p:cNvSpPr/>
          <p:nvPr/>
        </p:nvSpPr>
        <p:spPr>
          <a:xfrm>
            <a:off x="6400800" y="411480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EF4444"/>
                </a:solidFill>
                <a:latin typeface="Calibri"/>
                <a:ea typeface="Calibri"/>
                <a:cs typeface="Calibri"/>
                <a:sym typeface="Calibri"/>
              </a:rPr>
              <a:t>Generalschlüssel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8"/>
          <p:cNvSpPr/>
          <p:nvPr/>
        </p:nvSpPr>
        <p:spPr>
          <a:xfrm>
            <a:off x="457200" y="4572000"/>
            <a:ext cx="8229600" cy="41148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3" name="Google Shape;163;p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0080" y="4636008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8"/>
          <p:cNvSpPr/>
          <p:nvPr/>
        </p:nvSpPr>
        <p:spPr>
          <a:xfrm>
            <a:off x="1005840" y="4572000"/>
            <a:ext cx="74980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Faustregel: Default-Mode beibehalten. Auto-accept nur MIT Hooks als Guardrails.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8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6 / 18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9"/>
          <p:cNvSpPr/>
          <p:nvPr/>
        </p:nvSpPr>
        <p:spPr>
          <a:xfrm>
            <a:off x="0" y="0"/>
            <a:ext cx="9144000" cy="54864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9"/>
          <p:cNvSpPr/>
          <p:nvPr/>
        </p:nvSpPr>
        <p:spPr>
          <a:xfrm>
            <a:off x="457200" y="13716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BLOCK 1 · CONTEXT &amp; MEMORY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9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800"/>
              <a:buFont typeface="Trebuchet MS"/>
              <a:buNone/>
            </a:pPr>
            <a:r>
              <a:rPr lang="en-US" sz="28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Der Context ist RAM, keine Festplatte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9"/>
          <p:cNvSpPr/>
          <p:nvPr/>
        </p:nvSpPr>
        <p:spPr>
          <a:xfrm>
            <a:off x="457200" y="1234440"/>
            <a:ext cx="8229600" cy="41148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9"/>
          <p:cNvSpPr/>
          <p:nvPr/>
        </p:nvSpPr>
        <p:spPr>
          <a:xfrm>
            <a:off x="457200" y="1234440"/>
            <a:ext cx="5760720" cy="41148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>
              <a:alpha val="3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9"/>
          <p:cNvSpPr/>
          <p:nvPr/>
        </p:nvSpPr>
        <p:spPr>
          <a:xfrm>
            <a:off x="640080" y="1234440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100"/>
              <a:buFont typeface="Consolas"/>
              <a:buNone/>
            </a:pPr>
            <a:r>
              <a:rPr lang="en-US" sz="1100" b="0" i="0" u="none" strike="noStrike" cap="none">
                <a:solidFill>
                  <a:srgbClr val="F8FAFC"/>
                </a:solidFill>
                <a:latin typeface="Consolas"/>
                <a:ea typeface="Consolas"/>
                <a:cs typeface="Consolas"/>
                <a:sym typeface="Consolas"/>
              </a:rPr>
              <a:t>Kontext genutzt: ~70%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9"/>
          <p:cNvSpPr/>
          <p:nvPr/>
        </p:nvSpPr>
        <p:spPr>
          <a:xfrm>
            <a:off x="6400800" y="1234440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onsolas"/>
              <a:buNone/>
            </a:pPr>
            <a:r>
              <a:rPr lang="en-US" sz="1000" b="0" i="0" u="none" strike="noStrike" cap="none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rPr>
              <a:t>1M Tokens (Opus)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9"/>
          <p:cNvSpPr/>
          <p:nvPr/>
        </p:nvSpPr>
        <p:spPr>
          <a:xfrm>
            <a:off x="457200" y="192024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Was den Context füllt: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9"/>
          <p:cNvSpPr/>
          <p:nvPr/>
        </p:nvSpPr>
        <p:spPr>
          <a:xfrm>
            <a:off x="640080" y="22860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→  </a:t>
            </a:r>
            <a:r>
              <a:rPr lang="en-US" sz="11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Deine Nachrichten + Claudes Antworten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9"/>
          <p:cNvSpPr/>
          <p:nvPr/>
        </p:nvSpPr>
        <p:spPr>
          <a:xfrm>
            <a:off x="640080" y="2578608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→  </a:t>
            </a:r>
            <a:r>
              <a:rPr lang="en-US" sz="11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Gelesene Dateien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9"/>
          <p:cNvSpPr/>
          <p:nvPr/>
        </p:nvSpPr>
        <p:spPr>
          <a:xfrm>
            <a:off x="640080" y="2871216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→  </a:t>
            </a:r>
            <a:r>
              <a:rPr lang="en-US" sz="11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Command-Output (stdout/stderr)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9"/>
          <p:cNvSpPr/>
          <p:nvPr/>
        </p:nvSpPr>
        <p:spPr>
          <a:xfrm>
            <a:off x="640080" y="3163824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→  </a:t>
            </a:r>
            <a:r>
              <a:rPr lang="en-US" sz="11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CLAUDE.md + Memory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9"/>
          <p:cNvSpPr/>
          <p:nvPr/>
        </p:nvSpPr>
        <p:spPr>
          <a:xfrm>
            <a:off x="4754880" y="1920240"/>
            <a:ext cx="3931920" cy="237744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9"/>
          <p:cNvSpPr/>
          <p:nvPr/>
        </p:nvSpPr>
        <p:spPr>
          <a:xfrm>
            <a:off x="4937760" y="2011680"/>
            <a:ext cx="34747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38BDF8"/>
                </a:solidFill>
                <a:latin typeface="Trebuchet MS"/>
                <a:ea typeface="Trebuchet MS"/>
                <a:cs typeface="Trebuchet MS"/>
                <a:sym typeface="Trebuchet MS"/>
              </a:rPr>
              <a:t>Context Management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9"/>
          <p:cNvSpPr/>
          <p:nvPr/>
        </p:nvSpPr>
        <p:spPr>
          <a:xfrm>
            <a:off x="4937760" y="24231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100"/>
              <a:buFont typeface="Consolas"/>
              <a:buNone/>
            </a:pPr>
            <a:r>
              <a:rPr lang="en-US" sz="1100" b="1" i="0" u="none" strike="noStrike" cap="none">
                <a:solidFill>
                  <a:srgbClr val="34D399"/>
                </a:solidFill>
                <a:latin typeface="Consolas"/>
                <a:ea typeface="Consolas"/>
                <a:cs typeface="Consolas"/>
                <a:sym typeface="Consolas"/>
              </a:rPr>
              <a:t>/context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9"/>
          <p:cNvSpPr/>
          <p:nvPr/>
        </p:nvSpPr>
        <p:spPr>
          <a:xfrm>
            <a:off x="6400800" y="2423160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Nutzung visualisieren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9"/>
          <p:cNvSpPr/>
          <p:nvPr/>
        </p:nvSpPr>
        <p:spPr>
          <a:xfrm>
            <a:off x="4937760" y="277063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100"/>
              <a:buFont typeface="Consolas"/>
              <a:buNone/>
            </a:pPr>
            <a:r>
              <a:rPr lang="en-US" sz="1100" b="1" i="0" u="none" strike="noStrike" cap="none">
                <a:solidFill>
                  <a:srgbClr val="34D399"/>
                </a:solidFill>
                <a:latin typeface="Consolas"/>
                <a:ea typeface="Consolas"/>
                <a:cs typeface="Consolas"/>
                <a:sym typeface="Consolas"/>
              </a:rPr>
              <a:t>/compact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9"/>
          <p:cNvSpPr/>
          <p:nvPr/>
        </p:nvSpPr>
        <p:spPr>
          <a:xfrm>
            <a:off x="6400800" y="27706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Proaktiv komprimieren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9"/>
          <p:cNvSpPr/>
          <p:nvPr/>
        </p:nvSpPr>
        <p:spPr>
          <a:xfrm>
            <a:off x="4937760" y="311810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100"/>
              <a:buFont typeface="Consolas"/>
              <a:buNone/>
            </a:pPr>
            <a:r>
              <a:rPr lang="en-US" sz="1100" b="1" i="0" u="none" strike="noStrike" cap="none">
                <a:solidFill>
                  <a:srgbClr val="34D399"/>
                </a:solidFill>
                <a:latin typeface="Consolas"/>
                <a:ea typeface="Consolas"/>
                <a:cs typeface="Consolas"/>
                <a:sym typeface="Consolas"/>
              </a:rPr>
              <a:t>/clear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9"/>
          <p:cNvSpPr/>
          <p:nvPr/>
        </p:nvSpPr>
        <p:spPr>
          <a:xfrm>
            <a:off x="6400800" y="3118104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Context leeren (neues Thema)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9"/>
          <p:cNvSpPr/>
          <p:nvPr/>
        </p:nvSpPr>
        <p:spPr>
          <a:xfrm>
            <a:off x="4937760" y="346557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100"/>
              <a:buFont typeface="Consolas"/>
              <a:buNone/>
            </a:pPr>
            <a:r>
              <a:rPr lang="en-US" sz="1100" b="1" i="0" u="none" strike="noStrike" cap="none">
                <a:solidFill>
                  <a:srgbClr val="34D399"/>
                </a:solidFill>
                <a:latin typeface="Consolas"/>
                <a:ea typeface="Consolas"/>
                <a:cs typeface="Consolas"/>
                <a:sym typeface="Consolas"/>
              </a:rPr>
              <a:t>/export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9"/>
          <p:cNvSpPr/>
          <p:nvPr/>
        </p:nvSpPr>
        <p:spPr>
          <a:xfrm>
            <a:off x="6400800" y="3465576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Gespräch exportieren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9"/>
          <p:cNvSpPr/>
          <p:nvPr/>
        </p:nvSpPr>
        <p:spPr>
          <a:xfrm>
            <a:off x="4937760" y="381304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100"/>
              <a:buFont typeface="Consolas"/>
              <a:buNone/>
            </a:pPr>
            <a:r>
              <a:rPr lang="en-US" sz="1100" b="1" i="0" u="none" strike="noStrike" cap="none">
                <a:solidFill>
                  <a:srgbClr val="34D399"/>
                </a:solidFill>
                <a:latin typeface="Consolas"/>
                <a:ea typeface="Consolas"/>
                <a:cs typeface="Consolas"/>
                <a:sym typeface="Consolas"/>
              </a:rPr>
              <a:t>claude -c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9"/>
          <p:cNvSpPr/>
          <p:nvPr/>
        </p:nvSpPr>
        <p:spPr>
          <a:xfrm>
            <a:off x="6400800" y="38130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Letzte Session fortsetzen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9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200"/>
              <a:buFont typeface="Calibri"/>
              <a:buNone/>
            </a:pPr>
            <a:r>
              <a:rPr lang="en-US" sz="1200" b="0" i="1" u="none" strike="noStrike" cap="non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Faustregel: /compact bei &gt;80% Auslastung.  /clear bei Themenwechsel.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9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7 / 18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0"/>
          <p:cNvSpPr/>
          <p:nvPr/>
        </p:nvSpPr>
        <p:spPr>
          <a:xfrm>
            <a:off x="0" y="0"/>
            <a:ext cx="9144000" cy="54864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10"/>
          <p:cNvSpPr/>
          <p:nvPr/>
        </p:nvSpPr>
        <p:spPr>
          <a:xfrm>
            <a:off x="457200" y="13716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BLOCK 1 · KONFIGURATION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800"/>
              <a:buFont typeface="Trebuchet MS"/>
              <a:buNone/>
            </a:pPr>
            <a:r>
              <a:rPr lang="en-US" sz="28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CLAUDE.md — Deine Projekt-Policy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0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lang="en-US" sz="1200" b="0" i="1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Claude liest dieses Dokument bei jedem Sessionstart — automatisch, ohne Erinnerung.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0"/>
          <p:cNvSpPr/>
          <p:nvPr/>
        </p:nvSpPr>
        <p:spPr>
          <a:xfrm>
            <a:off x="457200" y="1417320"/>
            <a:ext cx="3931920" cy="265176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10"/>
          <p:cNvSpPr/>
          <p:nvPr/>
        </p:nvSpPr>
        <p:spPr>
          <a:xfrm>
            <a:off x="640080" y="1508760"/>
            <a:ext cx="34747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38BDF8"/>
                </a:solidFill>
                <a:latin typeface="Trebuchet MS"/>
                <a:ea typeface="Trebuchet MS"/>
                <a:cs typeface="Trebuchet MS"/>
                <a:sym typeface="Trebuchet MS"/>
              </a:rPr>
              <a:t>Konfigurations-Hierarchie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0"/>
          <p:cNvSpPr/>
          <p:nvPr/>
        </p:nvSpPr>
        <p:spPr>
          <a:xfrm>
            <a:off x="640080" y="192024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000"/>
              <a:buFont typeface="Consolas"/>
              <a:buNone/>
            </a:pPr>
            <a:r>
              <a:rPr lang="en-US" sz="1000" b="1" i="0" u="none" strike="noStrike" cap="none">
                <a:solidFill>
                  <a:srgbClr val="34D399"/>
                </a:solidFill>
                <a:latin typeface="Consolas"/>
                <a:ea typeface="Consolas"/>
                <a:cs typeface="Consolas"/>
                <a:sym typeface="Consolas"/>
              </a:rPr>
              <a:t>~/.claude/CLAUDE.md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0"/>
          <p:cNvSpPr/>
          <p:nvPr/>
        </p:nvSpPr>
        <p:spPr>
          <a:xfrm>
            <a:off x="2926080" y="192024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Global (alle Projekte)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0"/>
          <p:cNvSpPr/>
          <p:nvPr/>
        </p:nvSpPr>
        <p:spPr>
          <a:xfrm>
            <a:off x="1371600" y="2148840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↓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0"/>
          <p:cNvSpPr/>
          <p:nvPr/>
        </p:nvSpPr>
        <p:spPr>
          <a:xfrm>
            <a:off x="640080" y="2304288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000"/>
              <a:buFont typeface="Consolas"/>
              <a:buNone/>
            </a:pPr>
            <a:r>
              <a:rPr lang="en-US" sz="1000" b="1" i="0" u="none" strike="noStrike" cap="none">
                <a:solidFill>
                  <a:srgbClr val="34D399"/>
                </a:solidFill>
                <a:latin typeface="Consolas"/>
                <a:ea typeface="Consolas"/>
                <a:cs typeface="Consolas"/>
                <a:sym typeface="Consolas"/>
              </a:rPr>
              <a:t>./CLAUDE.md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0"/>
          <p:cNvSpPr/>
          <p:nvPr/>
        </p:nvSpPr>
        <p:spPr>
          <a:xfrm>
            <a:off x="2926080" y="230428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Projekt (Git-tracked, Team)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0"/>
          <p:cNvSpPr/>
          <p:nvPr/>
        </p:nvSpPr>
        <p:spPr>
          <a:xfrm>
            <a:off x="1371600" y="253288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↓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0"/>
          <p:cNvSpPr/>
          <p:nvPr/>
        </p:nvSpPr>
        <p:spPr>
          <a:xfrm>
            <a:off x="640080" y="2688336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000"/>
              <a:buFont typeface="Consolas"/>
              <a:buNone/>
            </a:pPr>
            <a:r>
              <a:rPr lang="en-US" sz="1000" b="1" i="0" u="none" strike="noStrike" cap="none">
                <a:solidFill>
                  <a:srgbClr val="34D399"/>
                </a:solidFill>
                <a:latin typeface="Consolas"/>
                <a:ea typeface="Consolas"/>
                <a:cs typeface="Consolas"/>
                <a:sym typeface="Consolas"/>
              </a:rPr>
              <a:t>./CLAUDE.local.md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0"/>
          <p:cNvSpPr/>
          <p:nvPr/>
        </p:nvSpPr>
        <p:spPr>
          <a:xfrm>
            <a:off x="2926080" y="268833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Persönlich (.gitignore!)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0"/>
          <p:cNvSpPr/>
          <p:nvPr/>
        </p:nvSpPr>
        <p:spPr>
          <a:xfrm>
            <a:off x="1371600" y="2916936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↓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0"/>
          <p:cNvSpPr/>
          <p:nvPr/>
        </p:nvSpPr>
        <p:spPr>
          <a:xfrm>
            <a:off x="640080" y="3072384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000"/>
              <a:buFont typeface="Consolas"/>
              <a:buNone/>
            </a:pPr>
            <a:r>
              <a:rPr lang="en-US" sz="1000" b="1" i="0" u="none" strike="noStrike" cap="none">
                <a:solidFill>
                  <a:srgbClr val="34D399"/>
                </a:solidFill>
                <a:latin typeface="Consolas"/>
                <a:ea typeface="Consolas"/>
                <a:cs typeface="Consolas"/>
                <a:sym typeface="Consolas"/>
              </a:rPr>
              <a:t>.claude/rules/*.md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0"/>
          <p:cNvSpPr/>
          <p:nvPr/>
        </p:nvSpPr>
        <p:spPr>
          <a:xfrm>
            <a:off x="2926080" y="307238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Pfad-spezifische Regeln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0"/>
          <p:cNvSpPr/>
          <p:nvPr/>
        </p:nvSpPr>
        <p:spPr>
          <a:xfrm>
            <a:off x="1371600" y="3300984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↓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0"/>
          <p:cNvSpPr/>
          <p:nvPr/>
        </p:nvSpPr>
        <p:spPr>
          <a:xfrm>
            <a:off x="640080" y="3456432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000"/>
              <a:buFont typeface="Consolas"/>
              <a:buNone/>
            </a:pPr>
            <a:r>
              <a:rPr lang="en-US" sz="1000" b="1" i="0" u="none" strike="noStrike" cap="none">
                <a:solidFill>
                  <a:srgbClr val="34D399"/>
                </a:solidFill>
                <a:latin typeface="Consolas"/>
                <a:ea typeface="Consolas"/>
                <a:cs typeface="Consolas"/>
                <a:sym typeface="Consolas"/>
              </a:rPr>
              <a:t>Memory System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0"/>
          <p:cNvSpPr/>
          <p:nvPr/>
        </p:nvSpPr>
        <p:spPr>
          <a:xfrm>
            <a:off x="2926080" y="345643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Auto-kuratiert, persistent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0"/>
          <p:cNvSpPr/>
          <p:nvPr/>
        </p:nvSpPr>
        <p:spPr>
          <a:xfrm>
            <a:off x="4754880" y="1417320"/>
            <a:ext cx="3931920" cy="265176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10"/>
          <p:cNvSpPr/>
          <p:nvPr/>
        </p:nvSpPr>
        <p:spPr>
          <a:xfrm>
            <a:off x="4937760" y="1508760"/>
            <a:ext cx="34747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34D399"/>
                </a:solidFill>
                <a:latin typeface="Trebuchet MS"/>
                <a:ea typeface="Trebuchet MS"/>
                <a:cs typeface="Trebuchet MS"/>
                <a:sym typeface="Trebuchet MS"/>
              </a:rPr>
              <a:t>Was gehört rein?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0"/>
          <p:cNvSpPr/>
          <p:nvPr/>
        </p:nvSpPr>
        <p:spPr>
          <a:xfrm>
            <a:off x="4937760" y="1920240"/>
            <a:ext cx="3474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✓  Stack &amp; Versionen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0"/>
          <p:cNvSpPr/>
          <p:nvPr/>
        </p:nvSpPr>
        <p:spPr>
          <a:xfrm>
            <a:off x="4937760" y="2194560"/>
            <a:ext cx="3474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✓  Coding-Konventionen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0"/>
          <p:cNvSpPr/>
          <p:nvPr/>
        </p:nvSpPr>
        <p:spPr>
          <a:xfrm>
            <a:off x="4937760" y="2468880"/>
            <a:ext cx="3474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✓  Domain-Terminologie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0"/>
          <p:cNvSpPr/>
          <p:nvPr/>
        </p:nvSpPr>
        <p:spPr>
          <a:xfrm>
            <a:off x="4937760" y="2743200"/>
            <a:ext cx="3474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✓  "Nie anfassen"-Regeln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0"/>
          <p:cNvSpPr/>
          <p:nvPr/>
        </p:nvSpPr>
        <p:spPr>
          <a:xfrm>
            <a:off x="4937760" y="3291840"/>
            <a:ext cx="3474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EF4444"/>
                </a:solidFill>
                <a:latin typeface="Calibri"/>
                <a:ea typeface="Calibri"/>
                <a:cs typeface="Calibri"/>
                <a:sym typeface="Calibri"/>
              </a:rPr>
              <a:t>✗  Secrets / API-Keys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0"/>
          <p:cNvSpPr/>
          <p:nvPr/>
        </p:nvSpPr>
        <p:spPr>
          <a:xfrm>
            <a:off x="4937760" y="3566160"/>
            <a:ext cx="3474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EF4444"/>
                </a:solidFill>
                <a:latin typeface="Calibri"/>
                <a:ea typeface="Calibri"/>
                <a:cs typeface="Calibri"/>
                <a:sym typeface="Calibri"/>
              </a:rPr>
              <a:t>✗  Temporärer Task-Kontext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0"/>
          <p:cNvSpPr/>
          <p:nvPr/>
        </p:nvSpPr>
        <p:spPr>
          <a:xfrm>
            <a:off x="4937760" y="3840480"/>
            <a:ext cx="3474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EF4444"/>
                </a:solidFill>
                <a:latin typeface="Calibri"/>
                <a:ea typeface="Calibri"/>
                <a:cs typeface="Calibri"/>
                <a:sym typeface="Calibri"/>
              </a:rPr>
              <a:t>✗  Lange Dokumentation (&gt;200 Zeilen)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8 / 18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1"/>
          <p:cNvSpPr/>
          <p:nvPr/>
        </p:nvSpPr>
        <p:spPr>
          <a:xfrm>
            <a:off x="0" y="0"/>
            <a:ext cx="9144000" cy="54864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11"/>
          <p:cNvSpPr/>
          <p:nvPr/>
        </p:nvSpPr>
        <p:spPr>
          <a:xfrm>
            <a:off x="457200" y="13716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BLOCK 1 · PROMPTING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1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800"/>
              <a:buFont typeface="Trebuchet MS"/>
              <a:buNone/>
            </a:pPr>
            <a:r>
              <a:rPr lang="en-US" sz="28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Vage rein → Vage raus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lang="en-US" sz="1200" b="0" i="1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Claude Code prompting = Arbeitsauftrag schreiben, nicht wünschen.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1"/>
          <p:cNvSpPr/>
          <p:nvPr/>
        </p:nvSpPr>
        <p:spPr>
          <a:xfrm>
            <a:off x="457200" y="1417320"/>
            <a:ext cx="3840480" cy="201168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11"/>
          <p:cNvSpPr/>
          <p:nvPr/>
        </p:nvSpPr>
        <p:spPr>
          <a:xfrm>
            <a:off x="457200" y="1417320"/>
            <a:ext cx="3840480" cy="54864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EF444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11"/>
          <p:cNvSpPr/>
          <p:nvPr/>
        </p:nvSpPr>
        <p:spPr>
          <a:xfrm>
            <a:off x="640080" y="155448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EF4444"/>
                </a:solidFill>
                <a:latin typeface="Trebuchet MS"/>
                <a:ea typeface="Trebuchet MS"/>
                <a:cs typeface="Trebuchet MS"/>
                <a:sym typeface="Trebuchet MS"/>
              </a:rPr>
              <a:t>✗  Vager Prompt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1"/>
          <p:cNvSpPr/>
          <p:nvPr/>
        </p:nvSpPr>
        <p:spPr>
          <a:xfrm>
            <a:off x="640080" y="1965960"/>
            <a:ext cx="34747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400"/>
              <a:buFont typeface="Consolas"/>
              <a:buNone/>
            </a:pPr>
            <a:r>
              <a:rPr lang="en-US" sz="140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"Fix the bug"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1"/>
          <p:cNvSpPr/>
          <p:nvPr/>
        </p:nvSpPr>
        <p:spPr>
          <a:xfrm>
            <a:off x="640080" y="2377440"/>
            <a:ext cx="34747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Claude rät welcher Bug.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Ändert vielleicht das Falsche.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Kein Validierungskriterium.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1"/>
          <p:cNvSpPr/>
          <p:nvPr/>
        </p:nvSpPr>
        <p:spPr>
          <a:xfrm>
            <a:off x="4754880" y="1417320"/>
            <a:ext cx="3931920" cy="201168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11"/>
          <p:cNvSpPr/>
          <p:nvPr/>
        </p:nvSpPr>
        <p:spPr>
          <a:xfrm>
            <a:off x="4754880" y="1417320"/>
            <a:ext cx="3931920" cy="54864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4D39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11"/>
          <p:cNvSpPr/>
          <p:nvPr/>
        </p:nvSpPr>
        <p:spPr>
          <a:xfrm>
            <a:off x="4937760" y="155448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34D399"/>
                </a:solidFill>
                <a:latin typeface="Trebuchet MS"/>
                <a:ea typeface="Trebuchet MS"/>
                <a:cs typeface="Trebuchet MS"/>
                <a:sym typeface="Trebuchet MS"/>
              </a:rPr>
              <a:t>✓  Spezifischer Prompt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1"/>
          <p:cNvSpPr/>
          <p:nvPr/>
        </p:nvSpPr>
        <p:spPr>
          <a:xfrm>
            <a:off x="4937760" y="1920240"/>
            <a:ext cx="356616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onsolas"/>
              <a:buNone/>
            </a:pPr>
            <a:r>
              <a:rPr lang="en-US" sz="100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"Fix den NullPointer in auth.py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onsolas"/>
              <a:buNone/>
            </a:pPr>
            <a:r>
              <a:rPr lang="en-US" sz="100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Zeile 45. LDAP-Import hat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onsolas"/>
              <a:buNone/>
            </a:pPr>
            <a:r>
              <a:rPr lang="en-US" sz="100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kein Email-Feld. Null-Check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onsolas"/>
              <a:buNone/>
            </a:pPr>
            <a:r>
              <a:rPr lang="en-US" sz="100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hinzufügen, Tests anpassen."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1"/>
          <p:cNvSpPr/>
          <p:nvPr/>
        </p:nvSpPr>
        <p:spPr>
          <a:xfrm>
            <a:off x="4937760" y="288036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34D399"/>
                </a:solidFill>
                <a:latin typeface="Calibri"/>
                <a:ea typeface="Calibri"/>
                <a:cs typeface="Calibri"/>
                <a:sym typeface="Calibri"/>
              </a:rPr>
              <a:t>Datei, Zeile, Ursache, Fix-Strategie.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1"/>
          <p:cNvSpPr/>
          <p:nvPr/>
        </p:nvSpPr>
        <p:spPr>
          <a:xfrm>
            <a:off x="457200" y="365760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400"/>
              <a:buFont typeface="Trebuchet MS"/>
              <a:buNone/>
            </a:pPr>
            <a:r>
              <a:rPr lang="en-US" sz="14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Battle-Tested Patterns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1"/>
          <p:cNvSpPr/>
          <p:nvPr/>
        </p:nvSpPr>
        <p:spPr>
          <a:xfrm>
            <a:off x="457200" y="406908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950"/>
              <a:buFont typeface="Consolas"/>
              <a:buNone/>
            </a:pPr>
            <a:r>
              <a:rPr lang="en-US" sz="950" b="0" i="0" u="none" strike="noStrike" cap="none">
                <a:solidFill>
                  <a:srgbClr val="38BDF8"/>
                </a:solidFill>
                <a:latin typeface="Consolas"/>
                <a:ea typeface="Consolas"/>
                <a:cs typeface="Consolas"/>
                <a:sym typeface="Consolas"/>
              </a:rPr>
              <a:t>"Read X first, then suggest"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1"/>
          <p:cNvSpPr/>
          <p:nvPr/>
        </p:nvSpPr>
        <p:spPr>
          <a:xfrm>
            <a:off x="3017520" y="4069080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Grounded in echtem Code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1"/>
          <p:cNvSpPr/>
          <p:nvPr/>
        </p:nvSpPr>
        <p:spPr>
          <a:xfrm>
            <a:off x="457200" y="443484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950"/>
              <a:buFont typeface="Consolas"/>
              <a:buNone/>
            </a:pPr>
            <a:r>
              <a:rPr lang="en-US" sz="950" b="0" i="0" u="none" strike="noStrike" cap="none">
                <a:solidFill>
                  <a:srgbClr val="38BDF8"/>
                </a:solidFill>
                <a:latin typeface="Consolas"/>
                <a:ea typeface="Consolas"/>
                <a:cs typeface="Consolas"/>
                <a:sym typeface="Consolas"/>
              </a:rPr>
              <a:t>"Show plan before implementing"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1"/>
          <p:cNvSpPr/>
          <p:nvPr/>
        </p:nvSpPr>
        <p:spPr>
          <a:xfrm>
            <a:off x="3017520" y="4434840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Checkpoint vor Änderungen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1"/>
          <p:cNvSpPr/>
          <p:nvPr/>
        </p:nvSpPr>
        <p:spPr>
          <a:xfrm>
            <a:off x="4572000" y="406908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950"/>
              <a:buFont typeface="Consolas"/>
              <a:buNone/>
            </a:pPr>
            <a:r>
              <a:rPr lang="en-US" sz="950" b="0" i="0" u="none" strike="noStrike" cap="none">
                <a:solidFill>
                  <a:srgbClr val="38BDF8"/>
                </a:solidFill>
                <a:latin typeface="Consolas"/>
                <a:ea typeface="Consolas"/>
                <a:cs typeface="Consolas"/>
                <a:sym typeface="Consolas"/>
              </a:rPr>
              <a:t>"Only change X, don't touch Y"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7132320" y="4069080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Scope explizit begrenzen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1"/>
          <p:cNvSpPr/>
          <p:nvPr/>
        </p:nvSpPr>
        <p:spPr>
          <a:xfrm>
            <a:off x="4572000" y="443484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950"/>
              <a:buFont typeface="Consolas"/>
              <a:buNone/>
            </a:pPr>
            <a:r>
              <a:rPr lang="en-US" sz="950" b="0" i="0" u="none" strike="noStrike" cap="none">
                <a:solidFill>
                  <a:srgbClr val="38BDF8"/>
                </a:solidFill>
                <a:latin typeface="Consolas"/>
                <a:ea typeface="Consolas"/>
                <a:cs typeface="Consolas"/>
                <a:sym typeface="Consolas"/>
              </a:rPr>
              <a:t>"Run tests and show output"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1"/>
          <p:cNvSpPr/>
          <p:nvPr/>
        </p:nvSpPr>
        <p:spPr>
          <a:xfrm>
            <a:off x="7132320" y="4434840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Verifikation eingebaut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1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9 / 18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2"/>
          <p:cNvSpPr/>
          <p:nvPr/>
        </p:nvSpPr>
        <p:spPr>
          <a:xfrm>
            <a:off x="0" y="0"/>
            <a:ext cx="9144000" cy="54864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12"/>
          <p:cNvSpPr/>
          <p:nvPr/>
        </p:nvSpPr>
        <p:spPr>
          <a:xfrm>
            <a:off x="457200" y="13716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BLOCK 1 · GIT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2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600"/>
              <a:buFont typeface="Trebuchet MS"/>
              <a:buNone/>
            </a:pPr>
            <a:r>
              <a:rPr lang="en-US" sz="26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Git-Integration — Alles aus der Konversation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2"/>
          <p:cNvSpPr/>
          <p:nvPr/>
        </p:nvSpPr>
        <p:spPr>
          <a:xfrm>
            <a:off x="365760" y="1188720"/>
            <a:ext cx="1188720" cy="91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2"/>
          <p:cNvSpPr/>
          <p:nvPr/>
        </p:nvSpPr>
        <p:spPr>
          <a:xfrm>
            <a:off x="365760" y="1188720"/>
            <a:ext cx="1188720" cy="4572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12"/>
          <p:cNvSpPr/>
          <p:nvPr/>
        </p:nvSpPr>
        <p:spPr>
          <a:xfrm>
            <a:off x="365760" y="1325880"/>
            <a:ext cx="118872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Branch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erstellen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2"/>
          <p:cNvSpPr/>
          <p:nvPr/>
        </p:nvSpPr>
        <p:spPr>
          <a:xfrm>
            <a:off x="1554480" y="1417320"/>
            <a:ext cx="228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2"/>
          <p:cNvSpPr/>
          <p:nvPr/>
        </p:nvSpPr>
        <p:spPr>
          <a:xfrm>
            <a:off x="1783080" y="1188720"/>
            <a:ext cx="1188720" cy="91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p12"/>
          <p:cNvSpPr/>
          <p:nvPr/>
        </p:nvSpPr>
        <p:spPr>
          <a:xfrm>
            <a:off x="1783080" y="1188720"/>
            <a:ext cx="1188720" cy="4572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12"/>
          <p:cNvSpPr/>
          <p:nvPr/>
        </p:nvSpPr>
        <p:spPr>
          <a:xfrm>
            <a:off x="1783080" y="1325880"/>
            <a:ext cx="118872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Feature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implementieren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2"/>
          <p:cNvSpPr/>
          <p:nvPr/>
        </p:nvSpPr>
        <p:spPr>
          <a:xfrm>
            <a:off x="2971800" y="1417320"/>
            <a:ext cx="228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2"/>
          <p:cNvSpPr/>
          <p:nvPr/>
        </p:nvSpPr>
        <p:spPr>
          <a:xfrm>
            <a:off x="3200400" y="1188720"/>
            <a:ext cx="1188720" cy="91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12"/>
          <p:cNvSpPr/>
          <p:nvPr/>
        </p:nvSpPr>
        <p:spPr>
          <a:xfrm>
            <a:off x="3200400" y="1188720"/>
            <a:ext cx="1188720" cy="4572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818C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2"/>
          <p:cNvSpPr/>
          <p:nvPr/>
        </p:nvSpPr>
        <p:spPr>
          <a:xfrm>
            <a:off x="3200400" y="1325880"/>
            <a:ext cx="118872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/diff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reviewen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2"/>
          <p:cNvSpPr/>
          <p:nvPr/>
        </p:nvSpPr>
        <p:spPr>
          <a:xfrm>
            <a:off x="4389120" y="1417320"/>
            <a:ext cx="228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2"/>
          <p:cNvSpPr/>
          <p:nvPr/>
        </p:nvSpPr>
        <p:spPr>
          <a:xfrm>
            <a:off x="4617720" y="1188720"/>
            <a:ext cx="1188720" cy="91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12"/>
          <p:cNvSpPr/>
          <p:nvPr/>
        </p:nvSpPr>
        <p:spPr>
          <a:xfrm>
            <a:off x="4617720" y="1188720"/>
            <a:ext cx="1188720" cy="4572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818C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p12"/>
          <p:cNvSpPr/>
          <p:nvPr/>
        </p:nvSpPr>
        <p:spPr>
          <a:xfrm>
            <a:off x="4617720" y="1325880"/>
            <a:ext cx="118872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Tests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laufen lassen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2"/>
          <p:cNvSpPr/>
          <p:nvPr/>
        </p:nvSpPr>
        <p:spPr>
          <a:xfrm>
            <a:off x="5806440" y="1417320"/>
            <a:ext cx="228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2"/>
          <p:cNvSpPr/>
          <p:nvPr/>
        </p:nvSpPr>
        <p:spPr>
          <a:xfrm>
            <a:off x="6035040" y="1188720"/>
            <a:ext cx="1188720" cy="91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p12"/>
          <p:cNvSpPr/>
          <p:nvPr/>
        </p:nvSpPr>
        <p:spPr>
          <a:xfrm>
            <a:off x="6035040" y="1188720"/>
            <a:ext cx="1188720" cy="4572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4D39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7" name="Google Shape;287;p12"/>
          <p:cNvSpPr/>
          <p:nvPr/>
        </p:nvSpPr>
        <p:spPr>
          <a:xfrm>
            <a:off x="6035040" y="1325880"/>
            <a:ext cx="118872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Commit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&amp; Push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2"/>
          <p:cNvSpPr/>
          <p:nvPr/>
        </p:nvSpPr>
        <p:spPr>
          <a:xfrm>
            <a:off x="7223760" y="1417320"/>
            <a:ext cx="228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2"/>
          <p:cNvSpPr/>
          <p:nvPr/>
        </p:nvSpPr>
        <p:spPr>
          <a:xfrm>
            <a:off x="7452360" y="1188720"/>
            <a:ext cx="1188720" cy="91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12"/>
          <p:cNvSpPr/>
          <p:nvPr/>
        </p:nvSpPr>
        <p:spPr>
          <a:xfrm>
            <a:off x="7452360" y="1188720"/>
            <a:ext cx="1188720" cy="4572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4D39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p12"/>
          <p:cNvSpPr/>
          <p:nvPr/>
        </p:nvSpPr>
        <p:spPr>
          <a:xfrm>
            <a:off x="7452360" y="1325880"/>
            <a:ext cx="118872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PR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erstellen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2"/>
          <p:cNvSpPr/>
          <p:nvPr/>
        </p:nvSpPr>
        <p:spPr>
          <a:xfrm>
            <a:off x="457200" y="246888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800"/>
              <a:buFont typeface="Trebuchet MS"/>
              <a:buNone/>
            </a:pPr>
            <a:r>
              <a:rPr lang="en-US" sz="18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Git Worktrees — Dein Software-Testlabor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2"/>
          <p:cNvSpPr/>
          <p:nvPr/>
        </p:nvSpPr>
        <p:spPr>
          <a:xfrm>
            <a:off x="457200" y="2926080"/>
            <a:ext cx="3931920" cy="1828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4" name="Google Shape;294;p12"/>
          <p:cNvSpPr/>
          <p:nvPr/>
        </p:nvSpPr>
        <p:spPr>
          <a:xfrm>
            <a:off x="640080" y="30175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1200"/>
              <a:buFont typeface="Trebuchet MS"/>
              <a:buNone/>
            </a:pPr>
            <a:r>
              <a:rPr lang="en-US" sz="1200" b="1" i="0" u="none" strike="noStrike" cap="none">
                <a:solidFill>
                  <a:srgbClr val="EF4444"/>
                </a:solidFill>
                <a:latin typeface="Trebuchet MS"/>
                <a:ea typeface="Trebuchet MS"/>
                <a:cs typeface="Trebuchet MS"/>
                <a:sym typeface="Trebuchet MS"/>
              </a:rPr>
              <a:t>Ohne Worktree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2"/>
          <p:cNvSpPr/>
          <p:nvPr/>
        </p:nvSpPr>
        <p:spPr>
          <a:xfrm>
            <a:off x="640080" y="3337560"/>
            <a:ext cx="3474720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stash → branch wechseln → fix →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commit → push → unstash →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weiterarbeiten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6 Schritte, Kontextverlust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2"/>
          <p:cNvSpPr/>
          <p:nvPr/>
        </p:nvSpPr>
        <p:spPr>
          <a:xfrm>
            <a:off x="4754880" y="2926080"/>
            <a:ext cx="3931920" cy="1828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2"/>
          <p:cNvSpPr/>
          <p:nvPr/>
        </p:nvSpPr>
        <p:spPr>
          <a:xfrm>
            <a:off x="4937760" y="30175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4D399"/>
              </a:buClr>
              <a:buSzPts val="1200"/>
              <a:buFont typeface="Trebuchet MS"/>
              <a:buNone/>
            </a:pPr>
            <a:r>
              <a:rPr lang="en-US" sz="1200" b="1" i="0" u="none" strike="noStrike" cap="none">
                <a:solidFill>
                  <a:srgbClr val="34D399"/>
                </a:solidFill>
                <a:latin typeface="Trebuchet MS"/>
                <a:ea typeface="Trebuchet MS"/>
                <a:cs typeface="Trebuchet MS"/>
                <a:sym typeface="Trebuchet MS"/>
              </a:rPr>
              <a:t>Mit Worktree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2"/>
          <p:cNvSpPr/>
          <p:nvPr/>
        </p:nvSpPr>
        <p:spPr>
          <a:xfrm>
            <a:off x="4937760" y="3337560"/>
            <a:ext cx="3474720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claude -w hotfix-branch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→ Fix in isoliertem Verzeichnis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→ Dein Feature-Branch bleibt unberührt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 Schritt, null Kontextverlust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2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10 / 18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3"/>
          <p:cNvSpPr/>
          <p:nvPr/>
        </p:nvSpPr>
        <p:spPr>
          <a:xfrm>
            <a:off x="0" y="0"/>
            <a:ext cx="9144000" cy="7315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818C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6" name="Google Shape;306;p13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40480" y="1188720"/>
            <a:ext cx="1371600" cy="13716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13"/>
          <p:cNvSpPr/>
          <p:nvPr/>
        </p:nvSpPr>
        <p:spPr>
          <a:xfrm>
            <a:off x="0" y="2743200"/>
            <a:ext cx="91440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4000"/>
              <a:buFont typeface="Trebuchet MS"/>
              <a:buNone/>
            </a:pPr>
            <a:r>
              <a:rPr lang="en-US" sz="40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Block 2</a:t>
            </a:r>
            <a:endParaRPr sz="4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3"/>
          <p:cNvSpPr/>
          <p:nvPr/>
        </p:nvSpPr>
        <p:spPr>
          <a:xfrm>
            <a:off x="0" y="333756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818CF8"/>
              </a:buClr>
              <a:buSzPts val="2400"/>
              <a:buFont typeface="Trebuchet MS"/>
              <a:buNone/>
            </a:pPr>
            <a:r>
              <a:rPr lang="en-US" sz="2400" b="0" i="0" u="none" strike="noStrike" cap="none">
                <a:solidFill>
                  <a:srgbClr val="818CF8"/>
                </a:solidFill>
                <a:latin typeface="Trebuchet MS"/>
                <a:ea typeface="Trebuchet MS"/>
                <a:cs typeface="Trebuchet MS"/>
                <a:sym typeface="Trebuchet MS"/>
              </a:rPr>
              <a:t>Das Ökosystem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3"/>
          <p:cNvSpPr/>
          <p:nvPr/>
        </p:nvSpPr>
        <p:spPr>
          <a:xfrm>
            <a:off x="0" y="393192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Skills  ·  Hooks  ·  Plugins  ·  MCP  ·  RAG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3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11 / 18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4"/>
          <p:cNvSpPr/>
          <p:nvPr/>
        </p:nvSpPr>
        <p:spPr>
          <a:xfrm>
            <a:off x="0" y="0"/>
            <a:ext cx="9144000" cy="54864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p14"/>
          <p:cNvSpPr/>
          <p:nvPr/>
        </p:nvSpPr>
        <p:spPr>
          <a:xfrm>
            <a:off x="457200" y="13716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BLOCK 2 · SKILLS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4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800"/>
              <a:buFont typeface="Trebuchet MS"/>
              <a:buNone/>
            </a:pPr>
            <a:r>
              <a:rPr lang="en-US" sz="28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Skills = SOPs für die AI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4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lang="en-US" sz="1200" b="0" i="1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Wiederverwendbare Instruktionen in Markdown — statt Copy-Paste jede Session.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4"/>
          <p:cNvSpPr/>
          <p:nvPr/>
        </p:nvSpPr>
        <p:spPr>
          <a:xfrm>
            <a:off x="457200" y="1417320"/>
            <a:ext cx="4572000" cy="292608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p14"/>
          <p:cNvSpPr/>
          <p:nvPr/>
        </p:nvSpPr>
        <p:spPr>
          <a:xfrm>
            <a:off x="640080" y="1508760"/>
            <a:ext cx="4114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000"/>
              <a:buFont typeface="Consolas"/>
              <a:buNone/>
            </a:pPr>
            <a:r>
              <a:rPr lang="en-US" sz="1000" b="0" i="0" u="none" strike="noStrike" cap="none">
                <a:solidFill>
                  <a:srgbClr val="38BDF8"/>
                </a:solidFill>
                <a:latin typeface="Consolas"/>
                <a:ea typeface="Consolas"/>
                <a:cs typeface="Consolas"/>
                <a:sym typeface="Consolas"/>
              </a:rPr>
              <a:t>.claude/skills/review/SKILL.md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4"/>
          <p:cNvSpPr/>
          <p:nvPr/>
        </p:nvSpPr>
        <p:spPr>
          <a:xfrm>
            <a:off x="640080" y="1810512"/>
            <a:ext cx="4206240" cy="2423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50"/>
              <a:buFont typeface="Consolas"/>
              <a:buNone/>
            </a:pPr>
            <a:r>
              <a:rPr lang="en-US" sz="95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---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50"/>
              <a:buFont typeface="Consolas"/>
              <a:buNone/>
            </a:pPr>
            <a:r>
              <a:rPr lang="en-US" sz="95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name: review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50"/>
              <a:buFont typeface="Consolas"/>
              <a:buNone/>
            </a:pPr>
            <a:r>
              <a:rPr lang="en-US" sz="95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description: Security-Code-Review.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50"/>
              <a:buFont typeface="Consolas"/>
              <a:buNone/>
            </a:pPr>
            <a:r>
              <a:rPr lang="en-US" sz="95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  Trigger: "review", "check code"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50"/>
              <a:buFont typeface="Consolas"/>
              <a:buNone/>
            </a:pPr>
            <a:r>
              <a:rPr lang="en-US" sz="95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allowed-tools: Read, Grep, Glob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50"/>
              <a:buFont typeface="Consolas"/>
              <a:buNone/>
            </a:pPr>
            <a:r>
              <a:rPr lang="en-US" sz="95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---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alibri"/>
              <a:buNone/>
            </a:pP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50"/>
              <a:buFont typeface="Consolas"/>
              <a:buNone/>
            </a:pPr>
            <a:r>
              <a:rPr lang="en-US" sz="95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# Code Review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alibri"/>
              <a:buNone/>
            </a:pP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50"/>
              <a:buFont typeface="Consolas"/>
              <a:buNone/>
            </a:pPr>
            <a:r>
              <a:rPr lang="en-US" sz="95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Prüfe auf: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50"/>
              <a:buFont typeface="Consolas"/>
              <a:buNone/>
            </a:pPr>
            <a:r>
              <a:rPr lang="en-US" sz="95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1. SQL Injection, XSS, Auth Bypass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50"/>
              <a:buFont typeface="Consolas"/>
              <a:buNone/>
            </a:pPr>
            <a:r>
              <a:rPr lang="en-US" sz="95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2. Fehlende Input-Validierung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50"/>
              <a:buFont typeface="Consolas"/>
              <a:buNone/>
            </a:pPr>
            <a:r>
              <a:rPr lang="en-US" sz="95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3. Hardcoded Secrets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alibri"/>
              <a:buNone/>
            </a:pP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50"/>
              <a:buFont typeface="Consolas"/>
              <a:buNone/>
            </a:pPr>
            <a:r>
              <a:rPr lang="en-US" sz="95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Ausgabe als Tabelle: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50"/>
              <a:buFont typeface="Consolas"/>
              <a:buNone/>
            </a:pPr>
            <a:r>
              <a:rPr lang="en-US" sz="95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Severity | File | Line | Issue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4"/>
          <p:cNvSpPr/>
          <p:nvPr/>
        </p:nvSpPr>
        <p:spPr>
          <a:xfrm>
            <a:off x="5303520" y="1417320"/>
            <a:ext cx="3383280" cy="109728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14"/>
          <p:cNvSpPr/>
          <p:nvPr/>
        </p:nvSpPr>
        <p:spPr>
          <a:xfrm>
            <a:off x="5303520" y="1417320"/>
            <a:ext cx="54864" cy="109728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818C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25" name="Google Shape;325;p1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0" y="160020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p14"/>
          <p:cNvSpPr/>
          <p:nvPr/>
        </p:nvSpPr>
        <p:spPr>
          <a:xfrm>
            <a:off x="5897880" y="1554480"/>
            <a:ext cx="26060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Auto-Aktivierung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4"/>
          <p:cNvSpPr/>
          <p:nvPr/>
        </p:nvSpPr>
        <p:spPr>
          <a:xfrm>
            <a:off x="5532120" y="196596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Claude matcht die Description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gegen deine Aufgabe — kein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expliziter Aufruf nötig.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4"/>
          <p:cNvSpPr/>
          <p:nvPr/>
        </p:nvSpPr>
        <p:spPr>
          <a:xfrm>
            <a:off x="5303520" y="2651760"/>
            <a:ext cx="3383280" cy="109728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9" name="Google Shape;329;p14"/>
          <p:cNvSpPr/>
          <p:nvPr/>
        </p:nvSpPr>
        <p:spPr>
          <a:xfrm>
            <a:off x="5303520" y="2651760"/>
            <a:ext cx="54864" cy="109728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F59E0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0" name="Google Shape;330;p1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86400" y="283464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14"/>
          <p:cNvSpPr/>
          <p:nvPr/>
        </p:nvSpPr>
        <p:spPr>
          <a:xfrm>
            <a:off x="5897880" y="2788920"/>
            <a:ext cx="26060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allowed-tools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4"/>
          <p:cNvSpPr/>
          <p:nvPr/>
        </p:nvSpPr>
        <p:spPr>
          <a:xfrm>
            <a:off x="5532120" y="320040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Principle of Least Privilege: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Ein Review-Skill braucht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kein Write oder Edit.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4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User: </a:t>
            </a:r>
            <a:r>
              <a:rPr lang="en-US" sz="100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~/.claude/skills/  </a:t>
            </a:r>
            <a:r>
              <a:rPr lang="en-US" sz="1000" b="1" i="0" u="none" strike="noStrike" cap="non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Projekt: </a:t>
            </a:r>
            <a:r>
              <a:rPr lang="en-US" sz="100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.claude/skills/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4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12 / 18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5"/>
          <p:cNvSpPr/>
          <p:nvPr/>
        </p:nvSpPr>
        <p:spPr>
          <a:xfrm>
            <a:off x="0" y="0"/>
            <a:ext cx="9144000" cy="54864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15"/>
          <p:cNvSpPr/>
          <p:nvPr/>
        </p:nvSpPr>
        <p:spPr>
          <a:xfrm>
            <a:off x="457200" y="13716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BLOCK 2 · HOOKS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5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600"/>
              <a:buFont typeface="Trebuchet MS"/>
              <a:buNone/>
            </a:pPr>
            <a:r>
              <a:rPr lang="en-US" sz="26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Hooks — Deterministisch, nicht probabilistisch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5"/>
          <p:cNvSpPr/>
          <p:nvPr/>
        </p:nvSpPr>
        <p:spPr>
          <a:xfrm>
            <a:off x="457200" y="1143000"/>
            <a:ext cx="3840480" cy="109728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15"/>
          <p:cNvSpPr/>
          <p:nvPr/>
        </p:nvSpPr>
        <p:spPr>
          <a:xfrm>
            <a:off x="457200" y="1143000"/>
            <a:ext cx="64008" cy="109728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EF444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15"/>
          <p:cNvSpPr/>
          <p:nvPr/>
        </p:nvSpPr>
        <p:spPr>
          <a:xfrm>
            <a:off x="685800" y="123444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200"/>
              <a:buFont typeface="Trebuchet MS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CLAUDE.md-Instruktion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5"/>
          <p:cNvSpPr/>
          <p:nvPr/>
        </p:nvSpPr>
        <p:spPr>
          <a:xfrm>
            <a:off x="685800" y="1554480"/>
            <a:ext cx="33832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"Bitte keine Secrets committen"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 Claude könnte es trotzdem tun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 Probabilistisch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5"/>
          <p:cNvSpPr/>
          <p:nvPr/>
        </p:nvSpPr>
        <p:spPr>
          <a:xfrm>
            <a:off x="4754880" y="1143000"/>
            <a:ext cx="3931920" cy="109728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15"/>
          <p:cNvSpPr/>
          <p:nvPr/>
        </p:nvSpPr>
        <p:spPr>
          <a:xfrm>
            <a:off x="4754880" y="1143000"/>
            <a:ext cx="64008" cy="109728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4D39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15"/>
          <p:cNvSpPr/>
          <p:nvPr/>
        </p:nvSpPr>
        <p:spPr>
          <a:xfrm>
            <a:off x="4983480" y="123444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200"/>
              <a:buFont typeface="Trebuchet MS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PreToolUse Hook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5"/>
          <p:cNvSpPr/>
          <p:nvPr/>
        </p:nvSpPr>
        <p:spPr>
          <a:xfrm>
            <a:off x="4983480" y="1554480"/>
            <a:ext cx="34747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exit 1 → Aktion blockiert. Garantiert.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 Deterministisch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 Feuert IMMER, ohne Erinnerung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5"/>
          <p:cNvSpPr/>
          <p:nvPr/>
        </p:nvSpPr>
        <p:spPr>
          <a:xfrm>
            <a:off x="457200" y="246888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400"/>
              <a:buFont typeface="Trebuchet MS"/>
              <a:buNone/>
            </a:pPr>
            <a:r>
              <a:rPr lang="en-US" sz="14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Hook-Events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52" name="Google Shape;352;p15"/>
          <p:cNvGraphicFramePr/>
          <p:nvPr/>
        </p:nvGraphicFramePr>
        <p:xfrm>
          <a:off x="457200" y="27889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{244DF067-20E9-499B-9C9D-D3BAAE4B0071}</a:tableStyleId>
              </a:tblPr>
              <a:tblGrid>
                <a:gridCol w="1645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8FAFC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F8FAF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Event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18C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8FAFC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F8FAF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Wann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18C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8FAFC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F8FAF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Kann blockieren?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18C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8FAFC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F8FAF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Analogie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18C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950"/>
                        <a:buFont typeface="Consolas"/>
                        <a:buNone/>
                      </a:pPr>
                      <a:r>
                        <a:rPr lang="en-US" sz="950" b="1" u="none" strike="noStrike" cap="none">
                          <a:solidFill>
                            <a:srgbClr val="94A3B8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PreToolUse</a:t>
                      </a:r>
                      <a:endParaRPr sz="950" u="none" strike="noStrike" cap="non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Vor jeder Tool-Nutzung</a:t>
                      </a:r>
                      <a:endParaRPr sz="9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Ja ✓</a:t>
                      </a:r>
                      <a:endParaRPr sz="9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Kartenleser — prüft vor Türöffnung</a:t>
                      </a:r>
                      <a:endParaRPr sz="9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950"/>
                        <a:buFont typeface="Consolas"/>
                        <a:buNone/>
                      </a:pPr>
                      <a:r>
                        <a:rPr lang="en-US" sz="950" b="1" u="none" strike="noStrike" cap="none">
                          <a:solidFill>
                            <a:srgbClr val="94A3B8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PostToolUse</a:t>
                      </a:r>
                      <a:endParaRPr sz="950" u="none" strike="noStrike" cap="non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Nach Tool-Nutzung</a:t>
                      </a:r>
                      <a:endParaRPr sz="9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Nein</a:t>
                      </a:r>
                      <a:endParaRPr sz="9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Türsensor — loggt nach Durchgang</a:t>
                      </a:r>
                      <a:endParaRPr sz="9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950"/>
                        <a:buFont typeface="Consolas"/>
                        <a:buNone/>
                      </a:pPr>
                      <a:r>
                        <a:rPr lang="en-US" sz="950" b="1" u="none" strike="noStrike" cap="none">
                          <a:solidFill>
                            <a:srgbClr val="94A3B8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SessionStart</a:t>
                      </a:r>
                      <a:endParaRPr sz="950" u="none" strike="noStrike" cap="non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Session beginnt</a:t>
                      </a:r>
                      <a:endParaRPr sz="9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Nein</a:t>
                      </a:r>
                      <a:endParaRPr sz="9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Schichtbeginn-Briefing</a:t>
                      </a:r>
                      <a:endParaRPr sz="9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950"/>
                        <a:buFont typeface="Consolas"/>
                        <a:buNone/>
                      </a:pPr>
                      <a:r>
                        <a:rPr lang="en-US" sz="950" b="1" u="none" strike="noStrike" cap="none">
                          <a:solidFill>
                            <a:srgbClr val="94A3B8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UserPromptSubmit</a:t>
                      </a:r>
                      <a:endParaRPr sz="950" u="none" strike="noStrike" cap="non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User-Input kommt</a:t>
                      </a:r>
                      <a:endParaRPr sz="9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Ja ✓</a:t>
                      </a:r>
                      <a:endParaRPr sz="9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Eingangskontrolle</a:t>
                      </a:r>
                      <a:endParaRPr sz="9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950"/>
                        <a:buFont typeface="Consolas"/>
                        <a:buNone/>
                      </a:pPr>
                      <a:r>
                        <a:rPr lang="en-US" sz="950" b="1" u="none" strike="noStrike" cap="none">
                          <a:solidFill>
                            <a:srgbClr val="94A3B8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Stop</a:t>
                      </a:r>
                      <a:endParaRPr sz="950" u="none" strike="noStrike" cap="non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Claude ist fertig</a:t>
                      </a:r>
                      <a:endParaRPr sz="9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Nein</a:t>
                      </a:r>
                      <a:endParaRPr sz="9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Schichtende-Alarm</a:t>
                      </a:r>
                      <a:endParaRPr sz="9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950"/>
                        <a:buFont typeface="Consolas"/>
                        <a:buNone/>
                      </a:pPr>
                      <a:r>
                        <a:rPr lang="en-US" sz="950" b="1" u="none" strike="noStrike" cap="none">
                          <a:solidFill>
                            <a:srgbClr val="94A3B8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Notification</a:t>
                      </a:r>
                      <a:endParaRPr sz="950" u="none" strike="noStrike" cap="none"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Claude benachrichtigt</a:t>
                      </a:r>
                      <a:endParaRPr sz="9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Nein</a:t>
                      </a:r>
                      <a:endParaRPr sz="9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4A3B8"/>
                        </a:buClr>
                        <a:buSzPts val="950"/>
                        <a:buFont typeface="Calibri"/>
                        <a:buNone/>
                      </a:pPr>
                      <a:r>
                        <a:rPr lang="en-US" sz="950" u="none" strike="noStrike" cap="none">
                          <a:solidFill>
                            <a:srgbClr val="94A3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Alarmmeldung weiterleiten</a:t>
                      </a:r>
                      <a:endParaRPr sz="9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3415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53" name="Google Shape;353;p15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13 / 18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16"/>
          <p:cNvSpPr/>
          <p:nvPr/>
        </p:nvSpPr>
        <p:spPr>
          <a:xfrm>
            <a:off x="0" y="0"/>
            <a:ext cx="9144000" cy="54864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0" name="Google Shape;360;p16"/>
          <p:cNvSpPr/>
          <p:nvPr/>
        </p:nvSpPr>
        <p:spPr>
          <a:xfrm>
            <a:off x="457200" y="13716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BLOCK 2 · PLUGINS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6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800"/>
              <a:buFont typeface="Trebuchet MS"/>
              <a:buNone/>
            </a:pPr>
            <a:r>
              <a:rPr lang="en-US" sz="28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Plugins — npm für AI-Workflows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6"/>
          <p:cNvSpPr/>
          <p:nvPr/>
        </p:nvSpPr>
        <p:spPr>
          <a:xfrm>
            <a:off x="457200" y="1143000"/>
            <a:ext cx="4114800" cy="292608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3" name="Google Shape;363;p16"/>
          <p:cNvSpPr/>
          <p:nvPr/>
        </p:nvSpPr>
        <p:spPr>
          <a:xfrm>
            <a:off x="640080" y="123444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18CF8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818CF8"/>
                </a:solidFill>
                <a:latin typeface="Trebuchet MS"/>
                <a:ea typeface="Trebuchet MS"/>
                <a:cs typeface="Trebuchet MS"/>
                <a:sym typeface="Trebuchet MS"/>
              </a:rPr>
              <a:t>Plugin-Struktur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6"/>
          <p:cNvSpPr/>
          <p:nvPr/>
        </p:nvSpPr>
        <p:spPr>
          <a:xfrm>
            <a:off x="640080" y="1600200"/>
            <a:ext cx="36576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onsolas"/>
              <a:buNone/>
            </a:pPr>
            <a:r>
              <a:rPr lang="en-US" sz="100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my-plugin/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onsolas"/>
              <a:buNone/>
            </a:pPr>
            <a:r>
              <a:rPr lang="en-US" sz="100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├── plugin.json        # Manifest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onsolas"/>
              <a:buNone/>
            </a:pPr>
            <a:r>
              <a:rPr lang="en-US" sz="100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├── skills/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onsolas"/>
              <a:buNone/>
            </a:pPr>
            <a:r>
              <a:rPr lang="en-US" sz="100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│   └── review/SKILL.md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onsolas"/>
              <a:buNone/>
            </a:pPr>
            <a:r>
              <a:rPr lang="en-US" sz="100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├── agents/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onsolas"/>
              <a:buNone/>
            </a:pPr>
            <a:r>
              <a:rPr lang="en-US" sz="100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│   └── security.md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onsolas"/>
              <a:buNone/>
            </a:pPr>
            <a:r>
              <a:rPr lang="en-US" sz="100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├── commands/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onsolas"/>
              <a:buNone/>
            </a:pPr>
            <a:r>
              <a:rPr lang="en-US" sz="100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│   └── audit.md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onsolas"/>
              <a:buNone/>
            </a:pPr>
            <a:r>
              <a:rPr lang="en-US" sz="100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├── hooks/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onsolas"/>
              <a:buNone/>
            </a:pPr>
            <a:r>
              <a:rPr lang="en-US" sz="100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│   └── hooks.json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onsolas"/>
              <a:buNone/>
            </a:pPr>
            <a:r>
              <a:rPr lang="en-US" sz="1000" b="0" i="0" u="none" strike="noStrike" cap="none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└── .mcp.json          # Bundled MCP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6"/>
          <p:cNvSpPr/>
          <p:nvPr/>
        </p:nvSpPr>
        <p:spPr>
          <a:xfrm>
            <a:off x="4846320" y="1143000"/>
            <a:ext cx="3840480" cy="137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16"/>
          <p:cNvSpPr/>
          <p:nvPr/>
        </p:nvSpPr>
        <p:spPr>
          <a:xfrm>
            <a:off x="4846320" y="1143000"/>
            <a:ext cx="54864" cy="1371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67" name="Google Shape;367;p1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29200" y="132588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16"/>
          <p:cNvSpPr/>
          <p:nvPr/>
        </p:nvSpPr>
        <p:spPr>
          <a:xfrm>
            <a:off x="5440680" y="128016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Scopes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6"/>
          <p:cNvSpPr/>
          <p:nvPr/>
        </p:nvSpPr>
        <p:spPr>
          <a:xfrm>
            <a:off x="5074920" y="1691640"/>
            <a:ext cx="34290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user  → Persönliches Toolkit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project → Team (Git-tracked)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local → Nicht geteilt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managed → Enterprise-Admin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6"/>
          <p:cNvSpPr/>
          <p:nvPr/>
        </p:nvSpPr>
        <p:spPr>
          <a:xfrm>
            <a:off x="4846320" y="2697480"/>
            <a:ext cx="3840480" cy="118872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16"/>
          <p:cNvSpPr/>
          <p:nvPr/>
        </p:nvSpPr>
        <p:spPr>
          <a:xfrm>
            <a:off x="4846320" y="2697480"/>
            <a:ext cx="54864" cy="118872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F59E0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72" name="Google Shape;372;p16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29200" y="288036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16"/>
          <p:cNvSpPr/>
          <p:nvPr/>
        </p:nvSpPr>
        <p:spPr>
          <a:xfrm>
            <a:off x="5440680" y="28346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Supply Chain Risk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6"/>
          <p:cNvSpPr/>
          <p:nvPr/>
        </p:nvSpPr>
        <p:spPr>
          <a:xfrm>
            <a:off x="5074920" y="3246120"/>
            <a:ext cx="34290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Plugin-Code reviewen vor Install.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Versionen pinnen. Executables in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bin/ laufen mit deinen Rechten.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6"/>
          <p:cNvSpPr/>
          <p:nvPr/>
        </p:nvSpPr>
        <p:spPr>
          <a:xfrm>
            <a:off x="457200" y="438912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000"/>
              <a:buFont typeface="Consolas"/>
              <a:buNone/>
            </a:pPr>
            <a:r>
              <a:rPr lang="en-US" sz="1000" b="0" i="0" u="none" strike="noStrike" cap="none">
                <a:solidFill>
                  <a:srgbClr val="38BDF8"/>
                </a:solidFill>
                <a:latin typeface="Consolas"/>
                <a:ea typeface="Consolas"/>
                <a:cs typeface="Consolas"/>
                <a:sym typeface="Consolas"/>
              </a:rPr>
              <a:t>claude plugin install &lt;source&gt;</a:t>
            </a:r>
            <a:r>
              <a:rPr lang="en-US" sz="10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000" b="0" i="0" u="none" strike="noStrike" cap="none">
                <a:solidFill>
                  <a:srgbClr val="38BDF8"/>
                </a:solidFill>
                <a:latin typeface="Consolas"/>
                <a:ea typeface="Consolas"/>
                <a:cs typeface="Consolas"/>
                <a:sym typeface="Consolas"/>
              </a:rPr>
              <a:t>claude --plugin-dir ./my-plugin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6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14 / 18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17"/>
          <p:cNvSpPr/>
          <p:nvPr/>
        </p:nvSpPr>
        <p:spPr>
          <a:xfrm>
            <a:off x="0" y="0"/>
            <a:ext cx="9144000" cy="54864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p17"/>
          <p:cNvSpPr/>
          <p:nvPr/>
        </p:nvSpPr>
        <p:spPr>
          <a:xfrm>
            <a:off x="457200" y="13716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BLOCK 2 · MCP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7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800"/>
              <a:buFont typeface="Trebuchet MS"/>
              <a:buNone/>
            </a:pPr>
            <a:r>
              <a:rPr lang="en-US" sz="28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MCP — USB-C für AI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7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lang="en-US" sz="1200" b="0" i="1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Offener Standard — verbindet Claude mit Datenbanken, APIs, Browsern, Messaging.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7"/>
          <p:cNvSpPr/>
          <p:nvPr/>
        </p:nvSpPr>
        <p:spPr>
          <a:xfrm>
            <a:off x="457200" y="1417320"/>
            <a:ext cx="2651760" cy="118872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7" name="Google Shape;387;p17"/>
          <p:cNvSpPr/>
          <p:nvPr/>
        </p:nvSpPr>
        <p:spPr>
          <a:xfrm>
            <a:off x="457200" y="1417320"/>
            <a:ext cx="54864" cy="118872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88" name="Google Shape;388;p1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0080" y="160020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17"/>
          <p:cNvSpPr/>
          <p:nvPr/>
        </p:nvSpPr>
        <p:spPr>
          <a:xfrm>
            <a:off x="1051560" y="1554480"/>
            <a:ext cx="18745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Playwright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7"/>
          <p:cNvSpPr/>
          <p:nvPr/>
        </p:nvSpPr>
        <p:spPr>
          <a:xfrm>
            <a:off x="685800" y="196596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Browser-Automatisierung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Navigation, Klicks, Screenshots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7"/>
          <p:cNvSpPr/>
          <p:nvPr/>
        </p:nvSpPr>
        <p:spPr>
          <a:xfrm>
            <a:off x="3337560" y="1417320"/>
            <a:ext cx="2651760" cy="118872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p17"/>
          <p:cNvSpPr/>
          <p:nvPr/>
        </p:nvSpPr>
        <p:spPr>
          <a:xfrm>
            <a:off x="3337560" y="1417320"/>
            <a:ext cx="54864" cy="118872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93" name="Google Shape;393;p17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520440" y="160020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17"/>
          <p:cNvSpPr/>
          <p:nvPr/>
        </p:nvSpPr>
        <p:spPr>
          <a:xfrm>
            <a:off x="3931920" y="1554480"/>
            <a:ext cx="18745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GitHub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7"/>
          <p:cNvSpPr/>
          <p:nvPr/>
        </p:nvSpPr>
        <p:spPr>
          <a:xfrm>
            <a:off x="3566160" y="196596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Issues, PRs, Repos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Code-Review-Integration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7"/>
          <p:cNvSpPr/>
          <p:nvPr/>
        </p:nvSpPr>
        <p:spPr>
          <a:xfrm>
            <a:off x="6217920" y="1417320"/>
            <a:ext cx="2651760" cy="118872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Google Shape;397;p17"/>
          <p:cNvSpPr/>
          <p:nvPr/>
        </p:nvSpPr>
        <p:spPr>
          <a:xfrm>
            <a:off x="6217920" y="1417320"/>
            <a:ext cx="54864" cy="118872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818C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98" name="Google Shape;398;p17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00800" y="160020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399" name="Google Shape;399;p17"/>
          <p:cNvSpPr/>
          <p:nvPr/>
        </p:nvSpPr>
        <p:spPr>
          <a:xfrm>
            <a:off x="6812280" y="1554480"/>
            <a:ext cx="18745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Postgres / SQLite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7"/>
          <p:cNvSpPr/>
          <p:nvPr/>
        </p:nvSpPr>
        <p:spPr>
          <a:xfrm>
            <a:off x="6446520" y="196596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Datenbank-Queries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Reports direkt aus DB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7"/>
          <p:cNvSpPr/>
          <p:nvPr/>
        </p:nvSpPr>
        <p:spPr>
          <a:xfrm>
            <a:off x="457200" y="2788920"/>
            <a:ext cx="2651760" cy="118872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2" name="Google Shape;402;p17"/>
          <p:cNvSpPr/>
          <p:nvPr/>
        </p:nvSpPr>
        <p:spPr>
          <a:xfrm>
            <a:off x="457200" y="2788920"/>
            <a:ext cx="54864" cy="118872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818C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03" name="Google Shape;403;p17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0080" y="297180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p17"/>
          <p:cNvSpPr/>
          <p:nvPr/>
        </p:nvSpPr>
        <p:spPr>
          <a:xfrm>
            <a:off x="1051560" y="2926080"/>
            <a:ext cx="18745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Slack / Discord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7"/>
          <p:cNvSpPr/>
          <p:nvPr/>
        </p:nvSpPr>
        <p:spPr>
          <a:xfrm>
            <a:off x="685800" y="333756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Nachrichten lesen/senden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Team-Benachrichtigungen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7"/>
          <p:cNvSpPr/>
          <p:nvPr/>
        </p:nvSpPr>
        <p:spPr>
          <a:xfrm>
            <a:off x="3337560" y="2788920"/>
            <a:ext cx="2651760" cy="118872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p17"/>
          <p:cNvSpPr/>
          <p:nvPr/>
        </p:nvSpPr>
        <p:spPr>
          <a:xfrm>
            <a:off x="3337560" y="2788920"/>
            <a:ext cx="54864" cy="118872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4D39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08" name="Google Shape;408;p17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520440" y="297180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17"/>
          <p:cNvSpPr/>
          <p:nvPr/>
        </p:nvSpPr>
        <p:spPr>
          <a:xfrm>
            <a:off x="3931920" y="2926080"/>
            <a:ext cx="18745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Context7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7"/>
          <p:cNvSpPr/>
          <p:nvPr/>
        </p:nvSpPr>
        <p:spPr>
          <a:xfrm>
            <a:off x="3566160" y="333756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Aktuelle Library-Docs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Verhindert Halluzinationen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7"/>
          <p:cNvSpPr/>
          <p:nvPr/>
        </p:nvSpPr>
        <p:spPr>
          <a:xfrm>
            <a:off x="6217920" y="2788920"/>
            <a:ext cx="2651760" cy="118872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17"/>
          <p:cNvSpPr/>
          <p:nvPr/>
        </p:nvSpPr>
        <p:spPr>
          <a:xfrm>
            <a:off x="6217920" y="2788920"/>
            <a:ext cx="54864" cy="118872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4D39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13" name="Google Shape;413;p17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00800" y="297180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414" name="Google Shape;414;p17"/>
          <p:cNvSpPr/>
          <p:nvPr/>
        </p:nvSpPr>
        <p:spPr>
          <a:xfrm>
            <a:off x="6812280" y="2926080"/>
            <a:ext cx="18745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Custom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7"/>
          <p:cNvSpPr/>
          <p:nvPr/>
        </p:nvSpPr>
        <p:spPr>
          <a:xfrm>
            <a:off x="6446520" y="333756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Eigene APIs exponieren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Internes Tooling anbinden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7"/>
          <p:cNvSpPr/>
          <p:nvPr/>
        </p:nvSpPr>
        <p:spPr>
          <a:xfrm>
            <a:off x="457200" y="4343400"/>
            <a:ext cx="8229600" cy="54864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17" name="Google Shape;417;p17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0080" y="4453128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418" name="Google Shape;418;p17"/>
          <p:cNvSpPr/>
          <p:nvPr/>
        </p:nvSpPr>
        <p:spPr>
          <a:xfrm>
            <a:off x="1005840" y="4343400"/>
            <a:ext cx="7498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MCP-Server haben Zugriff auf echte Daten. Token-Scope minimieren. OAuth bevorzugen. Prompt Injection beachten.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7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15 / 18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18"/>
          <p:cNvSpPr/>
          <p:nvPr/>
        </p:nvSpPr>
        <p:spPr>
          <a:xfrm>
            <a:off x="0" y="0"/>
            <a:ext cx="9144000" cy="54864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6" name="Google Shape;426;p18"/>
          <p:cNvSpPr/>
          <p:nvPr/>
        </p:nvSpPr>
        <p:spPr>
          <a:xfrm>
            <a:off x="457200" y="13716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BLOCK 2 · RAG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8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800"/>
              <a:buFont typeface="Trebuchet MS"/>
              <a:buNone/>
            </a:pPr>
            <a:r>
              <a:rPr lang="en-US" sz="28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Eigenes Wissen einbinden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8"/>
          <p:cNvSpPr/>
          <p:nvPr/>
        </p:nvSpPr>
        <p:spPr>
          <a:xfrm>
            <a:off x="457200" y="1143000"/>
            <a:ext cx="4023360" cy="128016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18"/>
          <p:cNvSpPr/>
          <p:nvPr/>
        </p:nvSpPr>
        <p:spPr>
          <a:xfrm>
            <a:off x="457200" y="1143000"/>
            <a:ext cx="54864" cy="128016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0" name="Google Shape;430;p18"/>
          <p:cNvSpPr/>
          <p:nvPr/>
        </p:nvSpPr>
        <p:spPr>
          <a:xfrm>
            <a:off x="640080" y="128016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1" name="Google Shape;431;p18"/>
          <p:cNvSpPr/>
          <p:nvPr/>
        </p:nvSpPr>
        <p:spPr>
          <a:xfrm>
            <a:off x="640080" y="128016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Trebuchet MS"/>
              <a:buNone/>
            </a:pPr>
            <a:r>
              <a:rPr lang="en-US" sz="1400" b="1" i="0" u="none" strike="noStrike" cap="none">
                <a:solidFill>
                  <a:srgbClr val="0F172A"/>
                </a:solidFill>
                <a:latin typeface="Trebuchet MS"/>
                <a:ea typeface="Trebuchet MS"/>
                <a:cs typeface="Trebuchet MS"/>
                <a:sym typeface="Trebuchet MS"/>
              </a:rPr>
              <a:t>1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8"/>
          <p:cNvSpPr/>
          <p:nvPr/>
        </p:nvSpPr>
        <p:spPr>
          <a:xfrm>
            <a:off x="1143000" y="1280160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@file-Imports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8"/>
          <p:cNvSpPr/>
          <p:nvPr/>
        </p:nvSpPr>
        <p:spPr>
          <a:xfrm>
            <a:off x="685800" y="16916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Datei direkt in Context laden.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@docs/api-spec.yaml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Einfachster Weg.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8"/>
          <p:cNvSpPr/>
          <p:nvPr/>
        </p:nvSpPr>
        <p:spPr>
          <a:xfrm>
            <a:off x="4754880" y="1143000"/>
            <a:ext cx="4023360" cy="128016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18"/>
          <p:cNvSpPr/>
          <p:nvPr/>
        </p:nvSpPr>
        <p:spPr>
          <a:xfrm>
            <a:off x="4754880" y="1143000"/>
            <a:ext cx="54864" cy="128016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818C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18"/>
          <p:cNvSpPr/>
          <p:nvPr/>
        </p:nvSpPr>
        <p:spPr>
          <a:xfrm>
            <a:off x="4937760" y="128016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818C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7" name="Google Shape;437;p18"/>
          <p:cNvSpPr/>
          <p:nvPr/>
        </p:nvSpPr>
        <p:spPr>
          <a:xfrm>
            <a:off x="4937760" y="128016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Trebuchet MS"/>
              <a:buNone/>
            </a:pPr>
            <a:r>
              <a:rPr lang="en-US" sz="1400" b="1" i="0" u="none" strike="noStrike" cap="none">
                <a:solidFill>
                  <a:srgbClr val="0F172A"/>
                </a:solidFill>
                <a:latin typeface="Trebuchet MS"/>
                <a:ea typeface="Trebuchet MS"/>
                <a:cs typeface="Trebuchet MS"/>
                <a:sym typeface="Trebuchet MS"/>
              </a:rPr>
              <a:t>2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8"/>
          <p:cNvSpPr/>
          <p:nvPr/>
        </p:nvSpPr>
        <p:spPr>
          <a:xfrm>
            <a:off x="5440680" y="1280160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MCP-basiertes RAG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8"/>
          <p:cNvSpPr/>
          <p:nvPr/>
        </p:nvSpPr>
        <p:spPr>
          <a:xfrm>
            <a:off x="4983480" y="16916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Datenbank als Wissensbasis.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Claude feuert SQL-Queries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gegen deine Doku-DB.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8"/>
          <p:cNvSpPr/>
          <p:nvPr/>
        </p:nvSpPr>
        <p:spPr>
          <a:xfrm>
            <a:off x="457200" y="2606040"/>
            <a:ext cx="4023360" cy="128016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1" name="Google Shape;441;p18"/>
          <p:cNvSpPr/>
          <p:nvPr/>
        </p:nvSpPr>
        <p:spPr>
          <a:xfrm>
            <a:off x="457200" y="2606040"/>
            <a:ext cx="54864" cy="128016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4D39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2" name="Google Shape;442;p18"/>
          <p:cNvSpPr/>
          <p:nvPr/>
        </p:nvSpPr>
        <p:spPr>
          <a:xfrm>
            <a:off x="640080" y="274320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4D39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3" name="Google Shape;443;p18"/>
          <p:cNvSpPr/>
          <p:nvPr/>
        </p:nvSpPr>
        <p:spPr>
          <a:xfrm>
            <a:off x="640080" y="274320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Trebuchet MS"/>
              <a:buNone/>
            </a:pPr>
            <a:r>
              <a:rPr lang="en-US" sz="1400" b="1" i="0" u="none" strike="noStrike" cap="none">
                <a:solidFill>
                  <a:srgbClr val="0F172A"/>
                </a:solidFill>
                <a:latin typeface="Trebuchet MS"/>
                <a:ea typeface="Trebuchet MS"/>
                <a:cs typeface="Trebuchet MS"/>
                <a:sym typeface="Trebuchet MS"/>
              </a:rPr>
              <a:t>3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8"/>
          <p:cNvSpPr/>
          <p:nvPr/>
        </p:nvSpPr>
        <p:spPr>
          <a:xfrm>
            <a:off x="1143000" y="2743200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NotebookLM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8"/>
          <p:cNvSpPr/>
          <p:nvPr/>
        </p:nvSpPr>
        <p:spPr>
          <a:xfrm>
            <a:off x="685800" y="315468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Google-RAG-Tool. PDFs, URLs,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Docs hochladen. Antworten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mit Quellenverweisen.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8"/>
          <p:cNvSpPr/>
          <p:nvPr/>
        </p:nvSpPr>
        <p:spPr>
          <a:xfrm>
            <a:off x="4754880" y="2606040"/>
            <a:ext cx="4023360" cy="128016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101600" dist="25400" dir="8100000" algn="bl" rotWithShape="0">
              <a:srgbClr val="000000">
                <a:alpha val="3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7" name="Google Shape;447;p18"/>
          <p:cNvSpPr/>
          <p:nvPr/>
        </p:nvSpPr>
        <p:spPr>
          <a:xfrm>
            <a:off x="4754880" y="2606040"/>
            <a:ext cx="54864" cy="128016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F59E0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8"/>
          <p:cNvSpPr/>
          <p:nvPr/>
        </p:nvSpPr>
        <p:spPr>
          <a:xfrm>
            <a:off x="4937760" y="274320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F59E0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p18"/>
          <p:cNvSpPr/>
          <p:nvPr/>
        </p:nvSpPr>
        <p:spPr>
          <a:xfrm>
            <a:off x="4937760" y="274320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Trebuchet MS"/>
              <a:buNone/>
            </a:pPr>
            <a:r>
              <a:rPr lang="en-US" sz="1400" b="1" i="0" u="none" strike="noStrike" cap="none">
                <a:solidFill>
                  <a:srgbClr val="0F172A"/>
                </a:solidFill>
                <a:latin typeface="Trebuchet MS"/>
                <a:ea typeface="Trebuchet MS"/>
                <a:cs typeface="Trebuchet MS"/>
                <a:sym typeface="Trebuchet MS"/>
              </a:rPr>
              <a:t>4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8"/>
          <p:cNvSpPr/>
          <p:nvPr/>
        </p:nvSpPr>
        <p:spPr>
          <a:xfrm>
            <a:off x="5440680" y="2743200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300"/>
              <a:buFont typeface="Trebuchet MS"/>
              <a:buNone/>
            </a:pPr>
            <a:r>
              <a:rPr lang="en-US" sz="13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Explore-Subagent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8"/>
          <p:cNvSpPr/>
          <p:nvPr/>
        </p:nvSpPr>
        <p:spPr>
          <a:xfrm>
            <a:off x="4983480" y="315468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Built-in Codebase-RAG.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Read-only, eigener Context.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Hält Haupt-Session sauber.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8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818CF8"/>
              </a:buClr>
              <a:buSzPts val="1200"/>
              <a:buFont typeface="Calibri"/>
              <a:buNone/>
            </a:pPr>
            <a:r>
              <a:rPr lang="en-US" sz="1200" b="0" i="1" u="none" strike="noStrike" cap="none">
                <a:solidFill>
                  <a:srgbClr val="818CF8"/>
                </a:solidFill>
                <a:latin typeface="Calibri"/>
                <a:ea typeface="Calibri"/>
                <a:cs typeface="Calibri"/>
                <a:sym typeface="Calibri"/>
              </a:rPr>
              <a:t>Von 'smart generalist' zu 'expert in unserem Stack' — ohne Fine-Tuning.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8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16 / 18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19"/>
          <p:cNvSpPr/>
          <p:nvPr/>
        </p:nvSpPr>
        <p:spPr>
          <a:xfrm>
            <a:off x="0" y="0"/>
            <a:ext cx="9144000" cy="54864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0" name="Google Shape;460;p19"/>
          <p:cNvSpPr/>
          <p:nvPr/>
        </p:nvSpPr>
        <p:spPr>
          <a:xfrm>
            <a:off x="457200" y="13716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BLOCK 2 · ZUSAMMENFASSUNG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9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2800"/>
              <a:buFont typeface="Trebuchet MS"/>
              <a:buNone/>
            </a:pPr>
            <a:r>
              <a:rPr lang="en-US" sz="28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Der Ökosystem-Stack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19"/>
          <p:cNvSpPr/>
          <p:nvPr/>
        </p:nvSpPr>
        <p:spPr>
          <a:xfrm>
            <a:off x="914400" y="1097280"/>
            <a:ext cx="7315200" cy="54864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3" name="Google Shape;463;p19"/>
          <p:cNvSpPr/>
          <p:nvPr/>
        </p:nvSpPr>
        <p:spPr>
          <a:xfrm>
            <a:off x="914400" y="1097280"/>
            <a:ext cx="73152" cy="54864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4D39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19"/>
          <p:cNvSpPr/>
          <p:nvPr/>
        </p:nvSpPr>
        <p:spPr>
          <a:xfrm>
            <a:off x="1143000" y="1097280"/>
            <a:ext cx="22860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200"/>
              <a:buFont typeface="Trebuchet MS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RAG / NotebookLM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9"/>
          <p:cNvSpPr/>
          <p:nvPr/>
        </p:nvSpPr>
        <p:spPr>
          <a:xfrm>
            <a:off x="3474720" y="1097280"/>
            <a:ext cx="44805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Dein verifiziertes Wissen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9"/>
          <p:cNvSpPr/>
          <p:nvPr/>
        </p:nvSpPr>
        <p:spPr>
          <a:xfrm>
            <a:off x="1051560" y="1737360"/>
            <a:ext cx="7040880" cy="54864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19"/>
          <p:cNvSpPr/>
          <p:nvPr/>
        </p:nvSpPr>
        <p:spPr>
          <a:xfrm>
            <a:off x="1051560" y="1737360"/>
            <a:ext cx="73152" cy="54864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818C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19"/>
          <p:cNvSpPr/>
          <p:nvPr/>
        </p:nvSpPr>
        <p:spPr>
          <a:xfrm>
            <a:off x="1280160" y="1737360"/>
            <a:ext cx="22860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200"/>
              <a:buFont typeface="Trebuchet MS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MCP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9"/>
          <p:cNvSpPr/>
          <p:nvPr/>
        </p:nvSpPr>
        <p:spPr>
          <a:xfrm>
            <a:off x="3611880" y="1737360"/>
            <a:ext cx="42062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Externe Systeme (Browser, DB, Slack, APIs)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9"/>
          <p:cNvSpPr/>
          <p:nvPr/>
        </p:nvSpPr>
        <p:spPr>
          <a:xfrm>
            <a:off x="1188720" y="2377440"/>
            <a:ext cx="6766560" cy="54864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19"/>
          <p:cNvSpPr/>
          <p:nvPr/>
        </p:nvSpPr>
        <p:spPr>
          <a:xfrm>
            <a:off x="1188720" y="2377440"/>
            <a:ext cx="73152" cy="54864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818C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19"/>
          <p:cNvSpPr/>
          <p:nvPr/>
        </p:nvSpPr>
        <p:spPr>
          <a:xfrm>
            <a:off x="1417320" y="2377440"/>
            <a:ext cx="22860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200"/>
              <a:buFont typeface="Trebuchet MS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Plugins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9"/>
          <p:cNvSpPr/>
          <p:nvPr/>
        </p:nvSpPr>
        <p:spPr>
          <a:xfrm>
            <a:off x="3749040" y="2377440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Paketierte Team-Capabilities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9"/>
          <p:cNvSpPr/>
          <p:nvPr/>
        </p:nvSpPr>
        <p:spPr>
          <a:xfrm>
            <a:off x="1325880" y="3017520"/>
            <a:ext cx="6492240" cy="54864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19"/>
          <p:cNvSpPr/>
          <p:nvPr/>
        </p:nvSpPr>
        <p:spPr>
          <a:xfrm>
            <a:off x="1325880" y="3017520"/>
            <a:ext cx="73152" cy="54864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F59E0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6" name="Google Shape;476;p19"/>
          <p:cNvSpPr/>
          <p:nvPr/>
        </p:nvSpPr>
        <p:spPr>
          <a:xfrm>
            <a:off x="1554480" y="3017520"/>
            <a:ext cx="22860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200"/>
              <a:buFont typeface="Trebuchet MS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Hooks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9"/>
          <p:cNvSpPr/>
          <p:nvPr/>
        </p:nvSpPr>
        <p:spPr>
          <a:xfrm>
            <a:off x="3886200" y="3017520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Deterministische Guardrails (PreToolUse, PostToolUse)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9"/>
          <p:cNvSpPr/>
          <p:nvPr/>
        </p:nvSpPr>
        <p:spPr>
          <a:xfrm>
            <a:off x="1463040" y="3657600"/>
            <a:ext cx="6217920" cy="54864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9" name="Google Shape;479;p19"/>
          <p:cNvSpPr/>
          <p:nvPr/>
        </p:nvSpPr>
        <p:spPr>
          <a:xfrm>
            <a:off x="1463040" y="3657600"/>
            <a:ext cx="73152" cy="54864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0" name="Google Shape;480;p19"/>
          <p:cNvSpPr/>
          <p:nvPr/>
        </p:nvSpPr>
        <p:spPr>
          <a:xfrm>
            <a:off x="1691640" y="3657600"/>
            <a:ext cx="22860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200"/>
              <a:buFont typeface="Trebuchet MS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Skills &amp; Commands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9"/>
          <p:cNvSpPr/>
          <p:nvPr/>
        </p:nvSpPr>
        <p:spPr>
          <a:xfrm>
            <a:off x="4023360" y="3657600"/>
            <a:ext cx="3383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Wiederverwendbare Workflows &amp; Auslöser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9"/>
          <p:cNvSpPr/>
          <p:nvPr/>
        </p:nvSpPr>
        <p:spPr>
          <a:xfrm>
            <a:off x="1600200" y="4297680"/>
            <a:ext cx="5943600" cy="54864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1E293B"/>
          </a:solidFill>
          <a:ln>
            <a:noFill/>
          </a:ln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3" name="Google Shape;483;p19"/>
          <p:cNvSpPr/>
          <p:nvPr/>
        </p:nvSpPr>
        <p:spPr>
          <a:xfrm>
            <a:off x="1600200" y="4297680"/>
            <a:ext cx="73152" cy="54864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64748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4" name="Google Shape;484;p19"/>
          <p:cNvSpPr/>
          <p:nvPr/>
        </p:nvSpPr>
        <p:spPr>
          <a:xfrm>
            <a:off x="1828800" y="4297680"/>
            <a:ext cx="22860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200"/>
              <a:buFont typeface="Trebuchet MS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Claude Code Core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9"/>
          <p:cNvSpPr/>
          <p:nvPr/>
        </p:nvSpPr>
        <p:spPr>
          <a:xfrm>
            <a:off x="4160520" y="429768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Read · Write · Edit · Bash · Git · Agent · WebSearch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19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Jede Schicht erweitert die Reichweite — von persönlicher Automatisierung bis Systemintegration.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19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17 / 18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20"/>
          <p:cNvSpPr/>
          <p:nvPr/>
        </p:nvSpPr>
        <p:spPr>
          <a:xfrm>
            <a:off x="0" y="0"/>
            <a:ext cx="9144000" cy="7315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20"/>
          <p:cNvSpPr/>
          <p:nvPr/>
        </p:nvSpPr>
        <p:spPr>
          <a:xfrm>
            <a:off x="0" y="731520"/>
            <a:ext cx="91440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3400"/>
              <a:buFont typeface="Trebuchet MS"/>
              <a:buNone/>
            </a:pPr>
            <a:r>
              <a:rPr lang="en-US" sz="3400" b="1" i="0" u="none" strike="noStrike" cap="none">
                <a:solidFill>
                  <a:srgbClr val="F8FAFC"/>
                </a:solidFill>
                <a:latin typeface="Trebuchet MS"/>
                <a:ea typeface="Trebuchet MS"/>
                <a:cs typeface="Trebuchet MS"/>
                <a:sym typeface="Trebuchet MS"/>
              </a:rPr>
              <a:t>Wo fange ich an?</a:t>
            </a:r>
            <a:endParaRPr sz="3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20"/>
          <p:cNvSpPr/>
          <p:nvPr/>
        </p:nvSpPr>
        <p:spPr>
          <a:xfrm>
            <a:off x="2103120" y="1673352"/>
            <a:ext cx="347472" cy="34747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6" name="Google Shape;496;p20"/>
          <p:cNvSpPr/>
          <p:nvPr/>
        </p:nvSpPr>
        <p:spPr>
          <a:xfrm>
            <a:off x="2103120" y="167335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Trebuchet MS"/>
              <a:buNone/>
            </a:pPr>
            <a:r>
              <a:rPr lang="en-US" sz="1400" b="1" i="0" u="none" strike="noStrike" cap="none">
                <a:solidFill>
                  <a:srgbClr val="0F172A"/>
                </a:solidFill>
                <a:latin typeface="Trebuchet MS"/>
                <a:ea typeface="Trebuchet MS"/>
                <a:cs typeface="Trebuchet MS"/>
                <a:sym typeface="Trebuchet MS"/>
              </a:rPr>
              <a:t>1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20"/>
          <p:cNvSpPr/>
          <p:nvPr/>
        </p:nvSpPr>
        <p:spPr>
          <a:xfrm>
            <a:off x="2606040" y="1645920"/>
            <a:ext cx="50292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Claude Code in bestehendem Projekt starten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20"/>
          <p:cNvSpPr/>
          <p:nvPr/>
        </p:nvSpPr>
        <p:spPr>
          <a:xfrm>
            <a:off x="2103120" y="2176272"/>
            <a:ext cx="347472" cy="34747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8BD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p20"/>
          <p:cNvSpPr/>
          <p:nvPr/>
        </p:nvSpPr>
        <p:spPr>
          <a:xfrm>
            <a:off x="2103120" y="217627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Trebuchet MS"/>
              <a:buNone/>
            </a:pPr>
            <a:r>
              <a:rPr lang="en-US" sz="1400" b="1" i="0" u="none" strike="noStrike" cap="none">
                <a:solidFill>
                  <a:srgbClr val="0F172A"/>
                </a:solidFill>
                <a:latin typeface="Trebuchet MS"/>
                <a:ea typeface="Trebuchet MS"/>
                <a:cs typeface="Trebuchet MS"/>
                <a:sym typeface="Trebuchet MS"/>
              </a:rPr>
              <a:t>2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20"/>
          <p:cNvSpPr/>
          <p:nvPr/>
        </p:nvSpPr>
        <p:spPr>
          <a:xfrm>
            <a:off x="2606040" y="2148840"/>
            <a:ext cx="50292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CLAUDE.md schreiben (Stack, Konventionen, No-Go-Zonen)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20"/>
          <p:cNvSpPr/>
          <p:nvPr/>
        </p:nvSpPr>
        <p:spPr>
          <a:xfrm>
            <a:off x="2103120" y="2679192"/>
            <a:ext cx="347472" cy="34747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818C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2" name="Google Shape;502;p20"/>
          <p:cNvSpPr/>
          <p:nvPr/>
        </p:nvSpPr>
        <p:spPr>
          <a:xfrm>
            <a:off x="2103120" y="267919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Trebuchet MS"/>
              <a:buNone/>
            </a:pPr>
            <a:r>
              <a:rPr lang="en-US" sz="1400" b="1" i="0" u="none" strike="noStrike" cap="none">
                <a:solidFill>
                  <a:srgbClr val="0F172A"/>
                </a:solidFill>
                <a:latin typeface="Trebuchet MS"/>
                <a:ea typeface="Trebuchet MS"/>
                <a:cs typeface="Trebuchet MS"/>
                <a:sym typeface="Trebuchet MS"/>
              </a:rPr>
              <a:t>3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20"/>
          <p:cNvSpPr/>
          <p:nvPr/>
        </p:nvSpPr>
        <p:spPr>
          <a:xfrm>
            <a:off x="2606040" y="2651760"/>
            <a:ext cx="50292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Einen Skill bauen (häufigstes wiederholtes Prompt)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20"/>
          <p:cNvSpPr/>
          <p:nvPr/>
        </p:nvSpPr>
        <p:spPr>
          <a:xfrm>
            <a:off x="2103120" y="3182112"/>
            <a:ext cx="347472" cy="34747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818C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5" name="Google Shape;505;p20"/>
          <p:cNvSpPr/>
          <p:nvPr/>
        </p:nvSpPr>
        <p:spPr>
          <a:xfrm>
            <a:off x="2103120" y="318211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Trebuchet MS"/>
              <a:buNone/>
            </a:pPr>
            <a:r>
              <a:rPr lang="en-US" sz="1400" b="1" i="0" u="none" strike="noStrike" cap="none">
                <a:solidFill>
                  <a:srgbClr val="0F172A"/>
                </a:solidFill>
                <a:latin typeface="Trebuchet MS"/>
                <a:ea typeface="Trebuchet MS"/>
                <a:cs typeface="Trebuchet MS"/>
                <a:sym typeface="Trebuchet MS"/>
              </a:rPr>
              <a:t>4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20"/>
          <p:cNvSpPr/>
          <p:nvPr/>
        </p:nvSpPr>
        <p:spPr>
          <a:xfrm>
            <a:off x="2606040" y="3154680"/>
            <a:ext cx="50292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Safety Hook einrichten (rm -rf, force push blockieren)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20"/>
          <p:cNvSpPr/>
          <p:nvPr/>
        </p:nvSpPr>
        <p:spPr>
          <a:xfrm>
            <a:off x="2103120" y="3685032"/>
            <a:ext cx="347472" cy="34747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4D39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Google Shape;508;p20"/>
          <p:cNvSpPr/>
          <p:nvPr/>
        </p:nvSpPr>
        <p:spPr>
          <a:xfrm>
            <a:off x="2103120" y="368503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Trebuchet MS"/>
              <a:buNone/>
            </a:pPr>
            <a:r>
              <a:rPr lang="en-US" sz="1400" b="1" i="0" u="none" strike="noStrike" cap="none">
                <a:solidFill>
                  <a:srgbClr val="0F172A"/>
                </a:solidFill>
                <a:latin typeface="Trebuchet MS"/>
                <a:ea typeface="Trebuchet MS"/>
                <a:cs typeface="Trebuchet MS"/>
                <a:sym typeface="Trebuchet MS"/>
              </a:rPr>
              <a:t>5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20"/>
          <p:cNvSpPr/>
          <p:nvPr/>
        </p:nvSpPr>
        <p:spPr>
          <a:xfrm>
            <a:off x="2606040" y="3657600"/>
            <a:ext cx="50292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MCP-Server hinzufügen (GitHub ist der einfachste)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20"/>
          <p:cNvSpPr/>
          <p:nvPr/>
        </p:nvSpPr>
        <p:spPr>
          <a:xfrm>
            <a:off x="2103120" y="4187952"/>
            <a:ext cx="347472" cy="34747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64748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1" name="Google Shape;511;p20"/>
          <p:cNvSpPr/>
          <p:nvPr/>
        </p:nvSpPr>
        <p:spPr>
          <a:xfrm>
            <a:off x="2103120" y="418795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Trebuchet MS"/>
              <a:buNone/>
            </a:pPr>
            <a:r>
              <a:rPr lang="en-US" sz="1400" b="1" i="0" u="none" strike="noStrike" cap="none">
                <a:solidFill>
                  <a:srgbClr val="0F172A"/>
                </a:solidFill>
                <a:latin typeface="Trebuchet MS"/>
                <a:ea typeface="Trebuchet MS"/>
                <a:cs typeface="Trebuchet MS"/>
                <a:sym typeface="Trebuchet MS"/>
              </a:rPr>
              <a:t>6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20"/>
          <p:cNvSpPr/>
          <p:nvPr/>
        </p:nvSpPr>
        <p:spPr>
          <a:xfrm>
            <a:off x="2606040" y="4160520"/>
            <a:ext cx="50292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8FAFC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Erst dann: Subagents, Plugins, Agent Teams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20"/>
          <p:cNvSpPr/>
          <p:nvPr/>
        </p:nvSpPr>
        <p:spPr>
          <a:xfrm>
            <a:off x="2011680" y="4572000"/>
            <a:ext cx="5120640" cy="9144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0"/>
                </a:moveTo>
                <a:close/>
                <a:lnTo>
                  <a:pt x="-10000" y="120000"/>
                </a:lnTo>
              </a:path>
              <a:path w="120000" h="120000" fill="none" extrusionOk="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rgbClr val="33415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4" name="Google Shape;514;p20"/>
          <p:cNvSpPr/>
          <p:nvPr/>
        </p:nvSpPr>
        <p:spPr>
          <a:xfrm>
            <a:off x="0" y="4663440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code.claude.com/docs  ·  github.com/anthropics/awesome-claude-code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2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18 / 18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1567</Words>
  <Application>Microsoft Office PowerPoint</Application>
  <PresentationFormat>Bildschirmpräsentation (16:9)</PresentationFormat>
  <Paragraphs>427</Paragraphs>
  <Slides>18</Slides>
  <Notes>18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4" baseType="lpstr">
      <vt:lpstr>Arial</vt:lpstr>
      <vt:lpstr>Calibri</vt:lpstr>
      <vt:lpstr>Consolas</vt:lpstr>
      <vt:lpstr>Georgia</vt:lpstr>
      <vt:lpstr>Trebuchet MS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Dominic Meiser</dc:creator>
  <cp:lastModifiedBy>Dominic Meiser</cp:lastModifiedBy>
  <cp:revision>1</cp:revision>
  <dcterms:modified xsi:type="dcterms:W3CDTF">2026-04-10T22:13:48Z</dcterms:modified>
</cp:coreProperties>
</file>